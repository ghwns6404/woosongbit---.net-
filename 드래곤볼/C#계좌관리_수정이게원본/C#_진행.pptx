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09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0220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6980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171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392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564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48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8484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590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9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78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5039B-5E6A-4E1F-A83F-9E0B677709C1}" type="datetimeFigureOut">
              <a:rPr lang="ko-KR" altLang="en-US" smtClean="0"/>
              <a:t>2025-04-02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07E533-815D-4092-88F6-8260308FE26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4322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1507" y="2769833"/>
            <a:ext cx="131318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dirty="0" smtClean="0"/>
              <a:t>0401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165364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 smtClean="0"/>
              <a:t>C#</a:t>
            </a:r>
            <a:r>
              <a:rPr lang="ko-KR" altLang="en-US" sz="2500" dirty="0" smtClean="0"/>
              <a:t>언어</a:t>
            </a:r>
            <a:endParaRPr lang="ko-KR" altLang="en-US" sz="2500" dirty="0"/>
          </a:p>
        </p:txBody>
      </p:sp>
      <p:sp>
        <p:nvSpPr>
          <p:cNvPr id="2" name="직사각형 1"/>
          <p:cNvSpPr/>
          <p:nvPr/>
        </p:nvSpPr>
        <p:spPr>
          <a:xfrm>
            <a:off x="319596" y="5168284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OS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19596" y="4361896"/>
            <a:ext cx="214839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Win32API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319596" y="3630228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Application 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2601156" y="4361896"/>
            <a:ext cx="1846555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WinSockAPI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7201270" y="5168284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OS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7201270" y="3614691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.NET Framework 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7201270" y="2792766"/>
            <a:ext cx="412811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Application (.NET </a:t>
            </a:r>
            <a:r>
              <a:rPr lang="ko-KR" altLang="en-US" dirty="0" smtClean="0"/>
              <a:t>언어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12" name="직사각형 11"/>
          <p:cNvSpPr/>
          <p:nvPr/>
        </p:nvSpPr>
        <p:spPr>
          <a:xfrm>
            <a:off x="7201271" y="4391487"/>
            <a:ext cx="2148396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Win32API 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9482831" y="4391487"/>
            <a:ext cx="1846555" cy="6569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 smtClean="0"/>
              <a:t>WinSockAPI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724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 smtClean="0"/>
              <a:t>C#</a:t>
            </a:r>
            <a:r>
              <a:rPr lang="ko-KR" altLang="en-US" sz="2500" dirty="0" smtClean="0"/>
              <a:t>언어 개발과정</a:t>
            </a:r>
            <a:endParaRPr lang="ko-KR" altLang="en-US" sz="2500" dirty="0"/>
          </a:p>
        </p:txBody>
      </p:sp>
      <p:sp>
        <p:nvSpPr>
          <p:cNvPr id="10" name="직사각형 9"/>
          <p:cNvSpPr/>
          <p:nvPr/>
        </p:nvSpPr>
        <p:spPr>
          <a:xfrm>
            <a:off x="454239" y="1468822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소스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코드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54239" y="2682056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소스파일</a:t>
            </a:r>
            <a:r>
              <a:rPr lang="en-US" altLang="ko-KR" dirty="0" smtClean="0">
                <a:solidFill>
                  <a:schemeClr val="tx1"/>
                </a:solidFill>
              </a:rPr>
              <a:t>(.c/</a:t>
            </a:r>
            <a:r>
              <a:rPr lang="en-US" altLang="ko-KR" dirty="0" err="1" smtClean="0">
                <a:solidFill>
                  <a:schemeClr val="tx1"/>
                </a:solidFill>
              </a:rPr>
              <a:t>cpp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2290438" y="1817486"/>
            <a:ext cx="763480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/>
          <p:cNvSpPr/>
          <p:nvPr/>
        </p:nvSpPr>
        <p:spPr>
          <a:xfrm>
            <a:off x="1754819" y="1422903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컴파일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435658" y="1468822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기계어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435658" y="2682056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목적파일</a:t>
            </a:r>
            <a:r>
              <a:rPr lang="en-US" altLang="ko-KR" dirty="0" smtClean="0">
                <a:solidFill>
                  <a:schemeClr val="tx1"/>
                </a:solidFill>
              </a:rPr>
              <a:t>(.</a:t>
            </a:r>
            <a:r>
              <a:rPr lang="en-US" altLang="ko-KR" dirty="0" err="1" smtClean="0">
                <a:solidFill>
                  <a:schemeClr val="tx1"/>
                </a:solidFill>
              </a:rPr>
              <a:t>obj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오른쪽 화살표 17"/>
          <p:cNvSpPr/>
          <p:nvPr/>
        </p:nvSpPr>
        <p:spPr>
          <a:xfrm>
            <a:off x="5345836" y="1881109"/>
            <a:ext cx="763480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직사각형 18"/>
          <p:cNvSpPr/>
          <p:nvPr/>
        </p:nvSpPr>
        <p:spPr>
          <a:xfrm>
            <a:off x="4780625" y="1448154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mtClean="0"/>
              <a:t>링커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6535443" y="1448154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기계어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535443" y="2661388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실행파일</a:t>
            </a:r>
            <a:r>
              <a:rPr lang="en-US" altLang="ko-KR" dirty="0" smtClean="0">
                <a:solidFill>
                  <a:schemeClr val="tx1"/>
                </a:solidFill>
              </a:rPr>
              <a:t>(.exe)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/>
          <p:cNvCxnSpPr/>
          <p:nvPr/>
        </p:nvCxnSpPr>
        <p:spPr>
          <a:xfrm flipV="1">
            <a:off x="454239" y="1003177"/>
            <a:ext cx="7571175" cy="88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54239" y="625537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개발과정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8105313" y="1003177"/>
            <a:ext cx="3818879" cy="102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180034" y="590960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실행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43880" y="4479832"/>
            <a:ext cx="1072719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소스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코드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443880" y="5693066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소스파일</a:t>
            </a:r>
            <a:r>
              <a:rPr lang="en-US" altLang="ko-KR" dirty="0" smtClean="0">
                <a:solidFill>
                  <a:schemeClr val="tx1"/>
                </a:solidFill>
              </a:rPr>
              <a:t>(.</a:t>
            </a:r>
            <a:r>
              <a:rPr lang="en-US" altLang="ko-KR" dirty="0" err="1" smtClean="0">
                <a:solidFill>
                  <a:schemeClr val="tx1"/>
                </a:solidFill>
              </a:rPr>
              <a:t>cs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오른쪽 화살표 29"/>
          <p:cNvSpPr/>
          <p:nvPr/>
        </p:nvSpPr>
        <p:spPr>
          <a:xfrm>
            <a:off x="2280079" y="4828496"/>
            <a:ext cx="763480" cy="39061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/>
          <p:cNvSpPr/>
          <p:nvPr/>
        </p:nvSpPr>
        <p:spPr>
          <a:xfrm>
            <a:off x="1744460" y="4433913"/>
            <a:ext cx="18347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컴파일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3425298" y="4479832"/>
            <a:ext cx="1484051" cy="108794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중간언어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dirty="0" smtClean="0">
                <a:solidFill>
                  <a:schemeClr val="tx1"/>
                </a:solidFill>
              </a:rPr>
              <a:t>(IL)</a:t>
            </a:r>
          </a:p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메타데이터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3425299" y="5693066"/>
            <a:ext cx="1834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 smtClean="0">
                <a:solidFill>
                  <a:schemeClr val="tx1"/>
                </a:solidFill>
              </a:rPr>
              <a:t>닷넷어셈블리</a:t>
            </a:r>
            <a:r>
              <a:rPr lang="en-US" altLang="ko-KR" dirty="0" smtClean="0">
                <a:solidFill>
                  <a:schemeClr val="tx1"/>
                </a:solidFill>
              </a:rPr>
              <a:t>(.exe)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345835" y="4269058"/>
            <a:ext cx="571574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CLR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메모리 로드</a:t>
            </a:r>
            <a:r>
              <a:rPr lang="en-US" altLang="ko-KR" dirty="0" smtClean="0"/>
              <a:t>(</a:t>
            </a:r>
            <a:r>
              <a:rPr lang="ko-KR" altLang="en-US" dirty="0" smtClean="0"/>
              <a:t>동작에 필요한 모든 어셈블리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컴파일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중간언어 </a:t>
            </a:r>
            <a:r>
              <a:rPr lang="en-US" altLang="ko-KR" dirty="0" smtClean="0">
                <a:solidFill>
                  <a:schemeClr val="tx1"/>
                </a:solidFill>
              </a:rPr>
              <a:t>-&gt; </a:t>
            </a:r>
            <a:r>
              <a:rPr lang="ko-KR" altLang="en-US" dirty="0" smtClean="0">
                <a:solidFill>
                  <a:schemeClr val="tx1"/>
                </a:solidFill>
              </a:rPr>
              <a:t>기계어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</a:p>
          <a:p>
            <a:r>
              <a:rPr lang="en-US" altLang="ko-KR" dirty="0"/>
              <a:t> </a:t>
            </a:r>
            <a:r>
              <a:rPr lang="en-US" altLang="ko-KR" dirty="0" smtClean="0"/>
              <a:t>    JIT(Just In Time)</a:t>
            </a:r>
            <a:r>
              <a:rPr lang="ko-KR" altLang="en-US" dirty="0" smtClean="0"/>
              <a:t>컴파일러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/>
              <a:t>3.  </a:t>
            </a:r>
            <a:r>
              <a:rPr lang="ko-KR" altLang="en-US" dirty="0" smtClean="0"/>
              <a:t>실행</a:t>
            </a:r>
            <a:r>
              <a:rPr lang="en-US" altLang="ko-KR" dirty="0" smtClean="0"/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8" name="직선 화살표 연결선 37"/>
          <p:cNvCxnSpPr/>
          <p:nvPr/>
        </p:nvCxnSpPr>
        <p:spPr>
          <a:xfrm>
            <a:off x="443880" y="4023065"/>
            <a:ext cx="4465469" cy="136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443880" y="3636547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개발과정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40" name="직선 화살표 연결선 39"/>
          <p:cNvCxnSpPr/>
          <p:nvPr/>
        </p:nvCxnSpPr>
        <p:spPr>
          <a:xfrm>
            <a:off x="5106877" y="4014187"/>
            <a:ext cx="3818879" cy="102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5181598" y="3601970"/>
            <a:ext cx="1834718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ko-KR" altLang="en-US" dirty="0" smtClean="0">
                <a:solidFill>
                  <a:schemeClr val="tx1"/>
                </a:solidFill>
              </a:rPr>
              <a:t>실행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1313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 smtClean="0"/>
              <a:t>C#</a:t>
            </a:r>
            <a:r>
              <a:rPr lang="ko-KR" altLang="en-US" sz="2500" dirty="0" smtClean="0"/>
              <a:t>언어</a:t>
            </a:r>
            <a:endParaRPr lang="ko-KR" altLang="en-US" sz="2500" dirty="0"/>
          </a:p>
        </p:txBody>
      </p:sp>
      <p:sp>
        <p:nvSpPr>
          <p:cNvPr id="3" name="직사각형 2"/>
          <p:cNvSpPr/>
          <p:nvPr/>
        </p:nvSpPr>
        <p:spPr>
          <a:xfrm>
            <a:off x="730928" y="1010705"/>
            <a:ext cx="48797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타입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 smtClean="0"/>
              <a:t>입출력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연산자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 err="1" smtClean="0"/>
              <a:t>제어문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분기문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제어문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반복문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배열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rgbClr val="FF0000"/>
                </a:solidFill>
              </a:rPr>
              <a:t>포인터</a:t>
            </a:r>
            <a:r>
              <a:rPr lang="en-US" altLang="ko-KR" dirty="0" smtClean="0">
                <a:solidFill>
                  <a:srgbClr val="FF0000"/>
                </a:solidFill>
              </a:rPr>
              <a:t>(C#</a:t>
            </a:r>
            <a:r>
              <a:rPr lang="ko-KR" altLang="en-US" dirty="0" smtClean="0">
                <a:solidFill>
                  <a:srgbClr val="FF0000"/>
                </a:solidFill>
              </a:rPr>
              <a:t>언어만을 가지고 구현 </a:t>
            </a:r>
            <a:r>
              <a:rPr lang="en-US" altLang="ko-KR" dirty="0" smtClean="0">
                <a:solidFill>
                  <a:srgbClr val="FF0000"/>
                </a:solidFill>
              </a:rPr>
              <a:t>X)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  C#</a:t>
            </a:r>
            <a:r>
              <a:rPr lang="ko-KR" altLang="en-US" dirty="0" smtClean="0">
                <a:solidFill>
                  <a:srgbClr val="FF0000"/>
                </a:solidFill>
              </a:rPr>
              <a:t>언어에서 </a:t>
            </a:r>
            <a:r>
              <a:rPr lang="en-US" altLang="ko-KR" dirty="0" smtClean="0">
                <a:solidFill>
                  <a:srgbClr val="FF0000"/>
                </a:solidFill>
              </a:rPr>
              <a:t>C/C++</a:t>
            </a:r>
            <a:r>
              <a:rPr lang="ko-KR" altLang="en-US" dirty="0" smtClean="0">
                <a:solidFill>
                  <a:srgbClr val="FF0000"/>
                </a:solidFill>
              </a:rPr>
              <a:t>로 만든 </a:t>
            </a:r>
            <a:r>
              <a:rPr lang="en-US" altLang="ko-KR" dirty="0" smtClean="0">
                <a:solidFill>
                  <a:srgbClr val="FF0000"/>
                </a:solidFill>
              </a:rPr>
              <a:t>DLL</a:t>
            </a:r>
            <a:r>
              <a:rPr lang="ko-KR" altLang="en-US" dirty="0" smtClean="0">
                <a:solidFill>
                  <a:srgbClr val="FF0000"/>
                </a:solidFill>
              </a:rPr>
              <a:t>사용가능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                 Win32API</a:t>
            </a:r>
            <a:r>
              <a:rPr lang="ko-KR" altLang="en-US" dirty="0" smtClean="0">
                <a:solidFill>
                  <a:srgbClr val="FF0000"/>
                </a:solidFill>
              </a:rPr>
              <a:t>도 사용 가능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8. </a:t>
            </a:r>
            <a:r>
              <a:rPr lang="ko-KR" altLang="en-US" dirty="0" smtClean="0"/>
              <a:t>함수</a:t>
            </a:r>
            <a:endParaRPr lang="en-US" altLang="ko-KR" dirty="0" smtClean="0"/>
          </a:p>
          <a:p>
            <a:r>
              <a:rPr lang="en-US" altLang="ko-KR" dirty="0" smtClean="0"/>
              <a:t>9. </a:t>
            </a:r>
            <a:r>
              <a:rPr lang="ko-KR" altLang="en-US" dirty="0" smtClean="0"/>
              <a:t>구조체</a:t>
            </a:r>
            <a:endParaRPr lang="en-US" altLang="ko-KR" dirty="0" smtClean="0"/>
          </a:p>
          <a:p>
            <a:r>
              <a:rPr lang="en-US" altLang="ko-KR" dirty="0" smtClean="0"/>
              <a:t>10. </a:t>
            </a:r>
            <a:r>
              <a:rPr lang="ko-KR" altLang="en-US" dirty="0" err="1" smtClean="0"/>
              <a:t>파일입출력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067887" y="1010705"/>
            <a:ext cx="48797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전통적인 문법에서 수정 추가된 문법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C#</a:t>
            </a:r>
            <a:r>
              <a:rPr lang="ko-KR" altLang="en-US" dirty="0" smtClean="0"/>
              <a:t>언어 </a:t>
            </a:r>
            <a:r>
              <a:rPr lang="en-US" altLang="ko-KR" dirty="0" smtClean="0"/>
              <a:t>OOP </a:t>
            </a:r>
            <a:r>
              <a:rPr lang="ko-KR" altLang="en-US" dirty="0" smtClean="0"/>
              <a:t>언어이다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chemeClr val="tx1"/>
                </a:solidFill>
              </a:rPr>
              <a:t>캡슐화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/>
              <a:t>2)  </a:t>
            </a:r>
            <a:r>
              <a:rPr lang="ko-KR" altLang="en-US" dirty="0" smtClean="0"/>
              <a:t>상속</a:t>
            </a:r>
            <a:endParaRPr lang="en-US" altLang="ko-KR" dirty="0" smtClean="0"/>
          </a:p>
          <a:p>
            <a:pPr marL="342900" indent="-342900">
              <a:buAutoNum type="arabicParenR" startAt="3"/>
            </a:pPr>
            <a:r>
              <a:rPr lang="ko-KR" altLang="en-US" dirty="0" err="1" smtClean="0">
                <a:solidFill>
                  <a:schemeClr val="tx1"/>
                </a:solidFill>
              </a:rPr>
              <a:t>다형성</a:t>
            </a:r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컬렉션 클래스 </a:t>
            </a:r>
            <a:endParaRPr lang="en-US" altLang="ko-KR" dirty="0"/>
          </a:p>
          <a:p>
            <a:r>
              <a:rPr lang="ko-KR" altLang="en-US" dirty="0" err="1" smtClean="0"/>
              <a:t>델리게이션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>
                <a:solidFill>
                  <a:schemeClr val="tx1"/>
                </a:solidFill>
              </a:rPr>
              <a:t>이벤트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err="1" smtClean="0"/>
              <a:t>닷넷</a:t>
            </a:r>
            <a:r>
              <a:rPr lang="ko-KR" altLang="en-US" dirty="0" smtClean="0"/>
              <a:t> 어셈블리</a:t>
            </a:r>
            <a:r>
              <a:rPr lang="en-US" altLang="ko-KR" dirty="0" smtClean="0"/>
              <a:t>DLL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59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1942" y="71021"/>
            <a:ext cx="11691891" cy="4770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sz="2500" dirty="0" smtClean="0"/>
              <a:t>C#</a:t>
            </a:r>
            <a:r>
              <a:rPr lang="ko-KR" altLang="en-US" sz="2500" dirty="0" smtClean="0"/>
              <a:t>언어</a:t>
            </a:r>
            <a:endParaRPr lang="ko-KR" altLang="en-US" sz="2500" dirty="0"/>
          </a:p>
        </p:txBody>
      </p:sp>
      <p:sp>
        <p:nvSpPr>
          <p:cNvPr id="3" name="직사각형 2"/>
          <p:cNvSpPr/>
          <p:nvPr/>
        </p:nvSpPr>
        <p:spPr>
          <a:xfrm>
            <a:off x="730928" y="1010705"/>
            <a:ext cx="487975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타입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 smtClean="0"/>
              <a:t>입출력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chemeClr val="tx1"/>
                </a:solidFill>
              </a:rPr>
              <a:t>연산자</a:t>
            </a:r>
            <a:endParaRPr lang="en-US" altLang="ko-KR" dirty="0" smtClean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r>
              <a:rPr lang="ko-KR" altLang="en-US" dirty="0" err="1" smtClean="0"/>
              <a:t>제어문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분기문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err="1" smtClean="0"/>
              <a:t>제어문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반복문</a:t>
            </a:r>
            <a:r>
              <a:rPr lang="en-US" altLang="ko-KR" dirty="0" smtClean="0"/>
              <a:t>)</a:t>
            </a:r>
          </a:p>
          <a:p>
            <a:pPr marL="342900" indent="-342900">
              <a:buAutoNum type="arabicPeriod"/>
            </a:pPr>
            <a:r>
              <a:rPr lang="ko-KR" altLang="en-US" dirty="0" smtClean="0"/>
              <a:t>배열 </a:t>
            </a: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ko-KR" altLang="en-US" dirty="0" smtClean="0">
                <a:solidFill>
                  <a:srgbClr val="FF0000"/>
                </a:solidFill>
              </a:rPr>
              <a:t>포인터</a:t>
            </a:r>
            <a:r>
              <a:rPr lang="en-US" altLang="ko-KR" dirty="0" smtClean="0">
                <a:solidFill>
                  <a:srgbClr val="FF0000"/>
                </a:solidFill>
              </a:rPr>
              <a:t>(C#</a:t>
            </a:r>
            <a:r>
              <a:rPr lang="ko-KR" altLang="en-US" dirty="0" smtClean="0">
                <a:solidFill>
                  <a:srgbClr val="FF0000"/>
                </a:solidFill>
              </a:rPr>
              <a:t>언어만을 가지고 구현 </a:t>
            </a:r>
            <a:r>
              <a:rPr lang="en-US" altLang="ko-KR" dirty="0" smtClean="0">
                <a:solidFill>
                  <a:srgbClr val="FF0000"/>
                </a:solidFill>
              </a:rPr>
              <a:t>X)</a:t>
            </a:r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  C#</a:t>
            </a:r>
            <a:r>
              <a:rPr lang="ko-KR" altLang="en-US" dirty="0" smtClean="0">
                <a:solidFill>
                  <a:srgbClr val="FF0000"/>
                </a:solidFill>
              </a:rPr>
              <a:t>언어에서 </a:t>
            </a:r>
            <a:r>
              <a:rPr lang="en-US" altLang="ko-KR" dirty="0" smtClean="0">
                <a:solidFill>
                  <a:srgbClr val="FF0000"/>
                </a:solidFill>
              </a:rPr>
              <a:t>C/C++</a:t>
            </a:r>
            <a:r>
              <a:rPr lang="ko-KR" altLang="en-US" dirty="0" smtClean="0">
                <a:solidFill>
                  <a:srgbClr val="FF0000"/>
                </a:solidFill>
              </a:rPr>
              <a:t>로 만든 </a:t>
            </a:r>
            <a:r>
              <a:rPr lang="en-US" altLang="ko-KR" dirty="0" smtClean="0">
                <a:solidFill>
                  <a:srgbClr val="FF0000"/>
                </a:solidFill>
              </a:rPr>
              <a:t>DLL</a:t>
            </a:r>
            <a:r>
              <a:rPr lang="ko-KR" altLang="en-US" dirty="0" smtClean="0">
                <a:solidFill>
                  <a:srgbClr val="FF0000"/>
                </a:solidFill>
              </a:rPr>
              <a:t>사용가능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                   Win32API</a:t>
            </a:r>
            <a:r>
              <a:rPr lang="ko-KR" altLang="en-US" dirty="0" smtClean="0">
                <a:solidFill>
                  <a:srgbClr val="FF0000"/>
                </a:solidFill>
              </a:rPr>
              <a:t>도 사용 가능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8. </a:t>
            </a:r>
            <a:r>
              <a:rPr lang="ko-KR" altLang="en-US" dirty="0" smtClean="0"/>
              <a:t>함수</a:t>
            </a:r>
            <a:endParaRPr lang="en-US" altLang="ko-KR" dirty="0" smtClean="0"/>
          </a:p>
          <a:p>
            <a:r>
              <a:rPr lang="en-US" altLang="ko-KR" dirty="0" smtClean="0"/>
              <a:t>9. </a:t>
            </a:r>
            <a:r>
              <a:rPr lang="ko-KR" altLang="en-US" dirty="0" smtClean="0"/>
              <a:t>구조체</a:t>
            </a:r>
            <a:endParaRPr lang="en-US" altLang="ko-KR" dirty="0" smtClean="0"/>
          </a:p>
          <a:p>
            <a:r>
              <a:rPr lang="en-US" altLang="ko-KR" dirty="0" smtClean="0"/>
              <a:t>10. </a:t>
            </a:r>
            <a:r>
              <a:rPr lang="ko-KR" altLang="en-US" dirty="0" err="1" smtClean="0"/>
              <a:t>파일입출력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6067887" y="1010705"/>
            <a:ext cx="487975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전통적인 문법에서 수정 추가된 문법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C#</a:t>
            </a:r>
            <a:r>
              <a:rPr lang="ko-KR" altLang="en-US" dirty="0" smtClean="0"/>
              <a:t>언어 </a:t>
            </a:r>
            <a:r>
              <a:rPr lang="en-US" altLang="ko-KR" dirty="0" smtClean="0"/>
              <a:t>OOP </a:t>
            </a:r>
            <a:r>
              <a:rPr lang="ko-KR" altLang="en-US" dirty="0" smtClean="0"/>
              <a:t>언어이다</a:t>
            </a:r>
            <a:r>
              <a:rPr lang="en-US" altLang="ko-KR" dirty="0" smtClean="0"/>
              <a:t>.</a:t>
            </a:r>
          </a:p>
          <a:p>
            <a:pPr marL="342900" indent="-342900">
              <a:buAutoNum type="arabicParenR"/>
            </a:pPr>
            <a:r>
              <a:rPr lang="ko-KR" altLang="en-US" dirty="0" smtClean="0">
                <a:solidFill>
                  <a:schemeClr val="tx1"/>
                </a:solidFill>
              </a:rPr>
              <a:t>캡슐화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/>
              <a:t>2)  </a:t>
            </a:r>
            <a:r>
              <a:rPr lang="ko-KR" altLang="en-US" dirty="0" smtClean="0"/>
              <a:t>상속</a:t>
            </a:r>
            <a:endParaRPr lang="en-US" altLang="ko-KR" dirty="0" smtClean="0"/>
          </a:p>
          <a:p>
            <a:pPr marL="342900" indent="-342900">
              <a:buAutoNum type="arabicParenR" startAt="3"/>
            </a:pPr>
            <a:r>
              <a:rPr lang="ko-KR" altLang="en-US" dirty="0" err="1" smtClean="0">
                <a:solidFill>
                  <a:schemeClr val="tx1"/>
                </a:solidFill>
              </a:rPr>
              <a:t>다형성</a:t>
            </a:r>
            <a:endParaRPr lang="en-US" altLang="ko-KR" dirty="0" smtClean="0">
              <a:solidFill>
                <a:schemeClr val="tx1"/>
              </a:solidFill>
            </a:endParaRPr>
          </a:p>
          <a:p>
            <a:endParaRPr lang="en-US" altLang="ko-KR" dirty="0" smtClean="0"/>
          </a:p>
          <a:p>
            <a:r>
              <a:rPr lang="ko-KR" altLang="en-US" dirty="0" smtClean="0"/>
              <a:t>컬렉션 클래스 </a:t>
            </a:r>
            <a:endParaRPr lang="en-US" altLang="ko-KR" dirty="0"/>
          </a:p>
          <a:p>
            <a:r>
              <a:rPr lang="ko-KR" altLang="en-US" dirty="0" err="1" smtClean="0"/>
              <a:t>델리게이션</a:t>
            </a:r>
            <a:r>
              <a:rPr lang="ko-KR" altLang="en-US" dirty="0" smtClean="0"/>
              <a:t> </a:t>
            </a:r>
            <a:endParaRPr lang="en-US" altLang="ko-KR" dirty="0" smtClean="0"/>
          </a:p>
          <a:p>
            <a:r>
              <a:rPr lang="ko-KR" altLang="en-US" dirty="0" smtClean="0">
                <a:solidFill>
                  <a:schemeClr val="tx1"/>
                </a:solidFill>
              </a:rPr>
              <a:t>이벤트 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err="1" smtClean="0"/>
              <a:t>닷넷</a:t>
            </a:r>
            <a:r>
              <a:rPr lang="ko-KR" altLang="en-US" dirty="0" smtClean="0"/>
              <a:t> 어셈블리</a:t>
            </a:r>
            <a:r>
              <a:rPr lang="en-US" altLang="ko-KR" dirty="0" smtClean="0"/>
              <a:t>DLL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581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841507" y="2769833"/>
            <a:ext cx="1313180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sz="4000" dirty="0" smtClean="0"/>
              <a:t>0402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37752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174789"/>
              </p:ext>
            </p:extLst>
          </p:nvPr>
        </p:nvGraphicFramePr>
        <p:xfrm>
          <a:off x="505041" y="728543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</a:t>
                      </a:r>
                      <a:r>
                        <a:rPr lang="en-US" altLang="ko-KR" sz="24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static</a:t>
                      </a:r>
                      <a:r>
                        <a:rPr lang="en-US" altLang="ko-KR" sz="2400" dirty="0" smtClean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 smtClean="0"/>
                        <a:t>WbLib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22681"/>
              </p:ext>
            </p:extLst>
          </p:nvPr>
        </p:nvGraphicFramePr>
        <p:xfrm>
          <a:off x="505041" y="269302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</a:t>
                      </a:r>
                      <a:r>
                        <a:rPr lang="en-US" altLang="ko-KR" sz="2400" dirty="0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static</a:t>
                      </a:r>
                      <a:r>
                        <a:rPr lang="en-US" altLang="ko-KR" sz="2400" dirty="0" smtClean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 smtClean="0"/>
                        <a:t>WbFile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24236"/>
              </p:ext>
            </p:extLst>
          </p:nvPr>
        </p:nvGraphicFramePr>
        <p:xfrm>
          <a:off x="4813838" y="33418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</a:t>
                      </a:r>
                      <a:r>
                        <a:rPr lang="ko-KR" altLang="en-US" sz="2400" dirty="0" smtClean="0"/>
                        <a:t>저장소</a:t>
                      </a:r>
                      <a:r>
                        <a:rPr lang="en-US" altLang="ko-KR" sz="2400" dirty="0" smtClean="0"/>
                        <a:t>&gt;&gt;</a:t>
                      </a:r>
                      <a:endParaRPr lang="en-US" altLang="ko-KR" sz="2400" dirty="0" smtClean="0"/>
                    </a:p>
                    <a:p>
                      <a:pPr algn="ctr" latinLnBrk="1"/>
                      <a:r>
                        <a:rPr lang="en-US" altLang="ko-KR" sz="2400" dirty="0" err="1" smtClean="0"/>
                        <a:t>WbArray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899526"/>
              </p:ext>
            </p:extLst>
          </p:nvPr>
        </p:nvGraphicFramePr>
        <p:xfrm>
          <a:off x="4813838" y="482468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</a:t>
                      </a:r>
                      <a:r>
                        <a:rPr lang="ko-KR" altLang="en-US" sz="1800" dirty="0" smtClean="0"/>
                        <a:t>흐름</a:t>
                      </a:r>
                      <a:r>
                        <a:rPr lang="en-US" altLang="ko-KR" sz="1800" dirty="0" smtClean="0"/>
                        <a:t>,</a:t>
                      </a:r>
                      <a:r>
                        <a:rPr lang="ko-KR" altLang="en-US" sz="1800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싱글톤</a:t>
                      </a:r>
                      <a:r>
                        <a:rPr lang="en-US" altLang="ko-KR" sz="2400" dirty="0" smtClean="0"/>
                        <a:t>&gt;&gt;</a:t>
                      </a:r>
                      <a:endParaRPr lang="en-US" altLang="ko-KR" sz="2400" dirty="0" smtClean="0"/>
                    </a:p>
                    <a:p>
                      <a:pPr algn="ctr" latinLnBrk="1"/>
                      <a:r>
                        <a:rPr lang="en-US" altLang="ko-KR" sz="2400" dirty="0" smtClean="0"/>
                        <a:t>App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561043"/>
              </p:ext>
            </p:extLst>
          </p:nvPr>
        </p:nvGraphicFramePr>
        <p:xfrm>
          <a:off x="9021224" y="2465903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</a:t>
                      </a:r>
                      <a:r>
                        <a:rPr lang="ko-KR" altLang="en-US" sz="2400" dirty="0" smtClean="0"/>
                        <a:t>데이터</a:t>
                      </a:r>
                      <a:r>
                        <a:rPr lang="en-US" altLang="ko-KR" sz="2400" dirty="0" smtClean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 smtClean="0"/>
                        <a:t>AccountIO</a:t>
                      </a:r>
                      <a:endParaRPr lang="en-US" altLang="ko-KR" sz="2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79188"/>
              </p:ext>
            </p:extLst>
          </p:nvPr>
        </p:nvGraphicFramePr>
        <p:xfrm>
          <a:off x="9021224" y="481603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</a:t>
                      </a:r>
                      <a:r>
                        <a:rPr lang="ko-KR" altLang="en-US" sz="2400" dirty="0" smtClean="0"/>
                        <a:t>데이터</a:t>
                      </a:r>
                      <a:r>
                        <a:rPr lang="en-US" altLang="ko-KR" sz="2400" dirty="0" smtClean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smtClean="0"/>
                        <a:t>Account</a:t>
                      </a:r>
                      <a:endParaRPr lang="en-US" altLang="ko-KR" sz="2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600842"/>
              </p:ext>
            </p:extLst>
          </p:nvPr>
        </p:nvGraphicFramePr>
        <p:xfrm>
          <a:off x="4813838" y="2464999"/>
          <a:ext cx="2389080" cy="1645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/>
                        <a:t>&lt;&lt;</a:t>
                      </a:r>
                      <a:r>
                        <a:rPr lang="ko-KR" altLang="en-US" sz="1800" dirty="0" smtClean="0"/>
                        <a:t>관리자</a:t>
                      </a:r>
                      <a:r>
                        <a:rPr lang="en-US" altLang="ko-KR" sz="1800" dirty="0" smtClean="0"/>
                        <a:t>,</a:t>
                      </a:r>
                      <a:r>
                        <a:rPr lang="ko-KR" altLang="en-US" sz="1800" dirty="0" err="1" smtClean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싱글톤</a:t>
                      </a:r>
                      <a:r>
                        <a:rPr lang="en-US" altLang="ko-KR" sz="1800" dirty="0" smtClean="0"/>
                        <a:t>&gt;&gt;</a:t>
                      </a:r>
                    </a:p>
                    <a:p>
                      <a:pPr algn="ctr" latinLnBrk="1"/>
                      <a:r>
                        <a:rPr lang="en-US" altLang="ko-KR" sz="2400" dirty="0" err="1" smtClean="0"/>
                        <a:t>AccountControl</a:t>
                      </a:r>
                      <a:endParaRPr lang="en-US" altLang="ko-KR" sz="2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259690" y="581915"/>
            <a:ext cx="2794228" cy="3936819"/>
          </a:xfrm>
          <a:prstGeom prst="rect">
            <a:avLst/>
          </a:prstGeom>
          <a:noFill/>
          <a:ln w="28575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818650" y="392147"/>
            <a:ext cx="2794228" cy="3936819"/>
          </a:xfrm>
          <a:prstGeom prst="rect">
            <a:avLst/>
          </a:prstGeom>
          <a:noFill/>
          <a:ln w="28575">
            <a:solidFill>
              <a:schemeClr val="accent6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233804"/>
              </p:ext>
            </p:extLst>
          </p:nvPr>
        </p:nvGraphicFramePr>
        <p:xfrm>
          <a:off x="1371107" y="4824685"/>
          <a:ext cx="2389080" cy="1737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89080">
                  <a:extLst>
                    <a:ext uri="{9D8B030D-6E8A-4147-A177-3AD203B41FA5}">
                      <a16:colId xmlns:a16="http://schemas.microsoft.com/office/drawing/2014/main" val="304415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 smtClean="0"/>
                        <a:t>&lt;&lt;main&gt;&gt;</a:t>
                      </a:r>
                      <a:endParaRPr lang="en-US" altLang="ko-KR" sz="2400" dirty="0" smtClean="0"/>
                    </a:p>
                    <a:p>
                      <a:pPr algn="ctr" latinLnBrk="1"/>
                      <a:r>
                        <a:rPr lang="en-US" altLang="ko-KR" sz="2400" dirty="0" smtClean="0"/>
                        <a:t>Program</a:t>
                      </a:r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947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6978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352173"/>
                  </a:ext>
                </a:extLst>
              </a:tr>
            </a:tbl>
          </a:graphicData>
        </a:graphic>
      </p:graphicFrame>
      <p:cxnSp>
        <p:nvCxnSpPr>
          <p:cNvPr id="15" name="직선 화살표 연결선 14"/>
          <p:cNvCxnSpPr/>
          <p:nvPr/>
        </p:nvCxnSpPr>
        <p:spPr>
          <a:xfrm flipV="1">
            <a:off x="3772107" y="5486400"/>
            <a:ext cx="1041731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 flipV="1">
            <a:off x="5894773" y="4202359"/>
            <a:ext cx="9455" cy="6223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endCxn id="6" idx="2"/>
          </p:cNvCxnSpPr>
          <p:nvPr/>
        </p:nvCxnSpPr>
        <p:spPr>
          <a:xfrm flipV="1">
            <a:off x="6008378" y="2071545"/>
            <a:ext cx="0" cy="3934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7202918" y="2938509"/>
            <a:ext cx="1597652" cy="17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 flipH="1">
            <a:off x="3094485" y="2796467"/>
            <a:ext cx="1719354" cy="8877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H="1" flipV="1">
            <a:off x="3069268" y="3036163"/>
            <a:ext cx="1744569" cy="2006355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1502172" y="187286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6464" y="334185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a</a:t>
            </a:r>
            <a:endParaRPr lang="ko-KR" alt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4524918" y="194832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b</a:t>
            </a:r>
            <a:endParaRPr lang="ko-KR" altLang="en-US" dirty="0"/>
          </a:p>
        </p:txBody>
      </p:sp>
      <p:sp>
        <p:nvSpPr>
          <p:cNvPr id="34" name="직사각형 33"/>
          <p:cNvSpPr/>
          <p:nvPr/>
        </p:nvSpPr>
        <p:spPr>
          <a:xfrm>
            <a:off x="4516172" y="2247493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5" name="직사각형 34"/>
          <p:cNvSpPr/>
          <p:nvPr/>
        </p:nvSpPr>
        <p:spPr>
          <a:xfrm>
            <a:off x="4596083" y="4601345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1166921" y="4783808"/>
            <a:ext cx="408372" cy="3946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9162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</TotalTime>
  <Words>270</Words>
  <Application>Microsoft Office PowerPoint</Application>
  <PresentationFormat>와이드스크린</PresentationFormat>
  <Paragraphs>109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9</cp:revision>
  <dcterms:created xsi:type="dcterms:W3CDTF">2025-04-01T00:04:36Z</dcterms:created>
  <dcterms:modified xsi:type="dcterms:W3CDTF">2025-04-02T06:57:09Z</dcterms:modified>
</cp:coreProperties>
</file>