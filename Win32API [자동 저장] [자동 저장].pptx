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7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  <p:sldId id="278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28B33-050A-4632-BD61-3346FFBD402F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60804-34B4-416B-AC27-F12A9137B2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1338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28B33-050A-4632-BD61-3346FFBD402F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60804-34B4-416B-AC27-F12A9137B2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750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28B33-050A-4632-BD61-3346FFBD402F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60804-34B4-416B-AC27-F12A9137B2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75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28B33-050A-4632-BD61-3346FFBD402F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60804-34B4-416B-AC27-F12A9137B2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1879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28B33-050A-4632-BD61-3346FFBD402F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60804-34B4-416B-AC27-F12A9137B2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943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28B33-050A-4632-BD61-3346FFBD402F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60804-34B4-416B-AC27-F12A9137B2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45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28B33-050A-4632-BD61-3346FFBD402F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60804-34B4-416B-AC27-F12A9137B2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699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28B33-050A-4632-BD61-3346FFBD402F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60804-34B4-416B-AC27-F12A9137B2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51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28B33-050A-4632-BD61-3346FFBD402F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60804-34B4-416B-AC27-F12A9137B2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4226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28B33-050A-4632-BD61-3346FFBD402F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60804-34B4-416B-AC27-F12A9137B2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139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28B33-050A-4632-BD61-3346FFBD402F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E60804-34B4-416B-AC27-F12A9137B2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622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28B33-050A-4632-BD61-3346FFBD402F}" type="datetimeFigureOut">
              <a:rPr lang="ko-KR" altLang="en-US" smtClean="0"/>
              <a:t>2025-03-07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60804-34B4-416B-AC27-F12A9137B2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305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77196" y="2032986"/>
            <a:ext cx="3009530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1" dirty="0" smtClean="0"/>
              <a:t>0305</a:t>
            </a:r>
            <a:endParaRPr lang="ko-KR" altLang="en-US" sz="4800" b="1" dirty="0"/>
          </a:p>
        </p:txBody>
      </p:sp>
      <p:sp>
        <p:nvSpPr>
          <p:cNvPr id="9" name="직사각형 8"/>
          <p:cNvSpPr/>
          <p:nvPr/>
        </p:nvSpPr>
        <p:spPr>
          <a:xfrm>
            <a:off x="3728621" y="3181732"/>
            <a:ext cx="3825856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 smtClean="0"/>
              <a:t>이벤트 처리 흐름</a:t>
            </a:r>
            <a:endParaRPr lang="en-US" altLang="ko-KR" sz="2800" b="1" dirty="0" smtClean="0"/>
          </a:p>
          <a:p>
            <a:endParaRPr lang="en-US" altLang="ko-KR" sz="2800" b="1" dirty="0"/>
          </a:p>
          <a:p>
            <a:r>
              <a:rPr lang="en-US" altLang="ko-KR" sz="2800" b="1" dirty="0" smtClean="0"/>
              <a:t>Skeleton </a:t>
            </a:r>
            <a:r>
              <a:rPr lang="ko-KR" altLang="en-US" sz="2800" b="1" dirty="0" smtClean="0"/>
              <a:t>코드의 이해 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627001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8675" y="142042"/>
            <a:ext cx="1179842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Skeleton </a:t>
            </a:r>
            <a:r>
              <a:rPr lang="ko-KR" altLang="en-US" b="1" dirty="0" smtClean="0"/>
              <a:t>코드</a:t>
            </a:r>
            <a:endParaRPr lang="ko-KR" altLang="en-US" b="1" dirty="0"/>
          </a:p>
        </p:txBody>
      </p:sp>
      <p:sp>
        <p:nvSpPr>
          <p:cNvPr id="5" name="직사각형 4"/>
          <p:cNvSpPr/>
          <p:nvPr/>
        </p:nvSpPr>
        <p:spPr>
          <a:xfrm>
            <a:off x="2663301" y="1695634"/>
            <a:ext cx="3861786" cy="48649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8016536" y="1695635"/>
            <a:ext cx="3845510" cy="48649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663301" y="926803"/>
            <a:ext cx="25779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err="1" smtClean="0"/>
              <a:t>WinMain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약속된 이름</a:t>
            </a:r>
            <a:r>
              <a:rPr lang="en-US" altLang="ko-KR" b="1" dirty="0" smtClean="0"/>
              <a:t>)</a:t>
            </a:r>
          </a:p>
          <a:p>
            <a:r>
              <a:rPr lang="en-US" altLang="ko-KR" b="1" dirty="0" smtClean="0"/>
              <a:t>- </a:t>
            </a:r>
            <a:r>
              <a:rPr lang="ko-KR" altLang="en-US" b="1" dirty="0" err="1" smtClean="0"/>
              <a:t>시작함수</a:t>
            </a:r>
            <a:endParaRPr lang="ko-KR" altLang="en-US" b="1" dirty="0"/>
          </a:p>
        </p:txBody>
      </p:sp>
      <p:sp>
        <p:nvSpPr>
          <p:cNvPr id="8" name="직사각형 7"/>
          <p:cNvSpPr/>
          <p:nvPr/>
        </p:nvSpPr>
        <p:spPr>
          <a:xfrm>
            <a:off x="8016536" y="901956"/>
            <a:ext cx="33670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err="1" smtClean="0"/>
              <a:t>WndProc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맘대로 정의한 이름</a:t>
            </a:r>
            <a:r>
              <a:rPr lang="en-US" altLang="ko-KR" b="1" dirty="0" smtClean="0"/>
              <a:t>)</a:t>
            </a:r>
          </a:p>
          <a:p>
            <a:r>
              <a:rPr lang="en-US" altLang="ko-KR" b="1" dirty="0" smtClean="0"/>
              <a:t>- </a:t>
            </a:r>
            <a:r>
              <a:rPr lang="ko-KR" altLang="en-US" b="1" dirty="0" smtClean="0"/>
              <a:t>메시지 처리 함수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412705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8675" y="142042"/>
            <a:ext cx="1179842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Skeleton </a:t>
            </a:r>
            <a:r>
              <a:rPr lang="ko-KR" altLang="en-US" b="1" dirty="0" smtClean="0"/>
              <a:t>코드 </a:t>
            </a:r>
            <a:r>
              <a:rPr lang="en-US" altLang="ko-KR" b="1" dirty="0" smtClean="0"/>
              <a:t>– </a:t>
            </a:r>
            <a:r>
              <a:rPr lang="en-US" altLang="ko-KR" b="1" dirty="0" err="1" smtClean="0"/>
              <a:t>WinMain</a:t>
            </a:r>
            <a:endParaRPr lang="ko-KR" altLang="en-US" b="1" dirty="0"/>
          </a:p>
        </p:txBody>
      </p:sp>
      <p:sp>
        <p:nvSpPr>
          <p:cNvPr id="2" name="직사각형 1"/>
          <p:cNvSpPr/>
          <p:nvPr/>
        </p:nvSpPr>
        <p:spPr>
          <a:xfrm>
            <a:off x="6190694" y="1175759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 smtClean="0"/>
              <a:t>POINT </a:t>
            </a:r>
            <a:r>
              <a:rPr lang="ko-KR" altLang="en-US" dirty="0" err="1" smtClean="0"/>
              <a:t>pt</a:t>
            </a:r>
            <a:r>
              <a:rPr lang="ko-KR" altLang="en-US" dirty="0" smtClean="0"/>
              <a:t>;</a:t>
            </a:r>
          </a:p>
          <a:p>
            <a:r>
              <a:rPr lang="ko-KR" altLang="en-US" dirty="0" err="1" smtClean="0"/>
              <a:t>pt.x</a:t>
            </a:r>
            <a:r>
              <a:rPr lang="ko-KR" altLang="en-US" dirty="0" smtClean="0"/>
              <a:t> = 10;</a:t>
            </a:r>
          </a:p>
          <a:p>
            <a:r>
              <a:rPr lang="ko-KR" altLang="en-US" dirty="0" err="1" smtClean="0"/>
              <a:t>pt.y</a:t>
            </a:r>
            <a:r>
              <a:rPr lang="ko-KR" altLang="en-US" dirty="0" smtClean="0"/>
              <a:t> = 20;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POINT *</a:t>
            </a:r>
            <a:r>
              <a:rPr lang="ko-KR" altLang="en-US" dirty="0" err="1" smtClean="0"/>
              <a:t>pt</a:t>
            </a:r>
            <a:r>
              <a:rPr lang="ko-KR" altLang="en-US" dirty="0" smtClean="0"/>
              <a:t> = (POINT*)</a:t>
            </a:r>
            <a:r>
              <a:rPr lang="ko-KR" altLang="en-US" dirty="0" err="1" smtClean="0"/>
              <a:t>malloc</a:t>
            </a:r>
            <a:r>
              <a:rPr lang="ko-KR" altLang="en-US" dirty="0" smtClean="0"/>
              <a:t>(POINT);</a:t>
            </a:r>
          </a:p>
          <a:p>
            <a:r>
              <a:rPr lang="ko-KR" altLang="en-US" dirty="0" err="1" smtClean="0"/>
              <a:t>pt</a:t>
            </a:r>
            <a:r>
              <a:rPr lang="ko-KR" altLang="en-US" dirty="0" smtClean="0"/>
              <a:t>-&gt;</a:t>
            </a:r>
            <a:r>
              <a:rPr lang="ko-KR" altLang="en-US" dirty="0" err="1" smtClean="0"/>
              <a:t>x</a:t>
            </a:r>
            <a:r>
              <a:rPr lang="ko-KR" altLang="en-US" dirty="0" smtClean="0"/>
              <a:t> = 10;</a:t>
            </a:r>
          </a:p>
          <a:p>
            <a:r>
              <a:rPr lang="ko-KR" altLang="en-US" dirty="0" err="1" smtClean="0"/>
              <a:t>pt</a:t>
            </a:r>
            <a:r>
              <a:rPr lang="ko-KR" altLang="en-US" dirty="0" smtClean="0"/>
              <a:t>-&gt;</a:t>
            </a:r>
            <a:r>
              <a:rPr lang="ko-KR" altLang="en-US" dirty="0" err="1" smtClean="0"/>
              <a:t>y</a:t>
            </a:r>
            <a:r>
              <a:rPr lang="ko-KR" altLang="en-US" dirty="0" smtClean="0"/>
              <a:t> = 20;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PPOINT </a:t>
            </a:r>
            <a:r>
              <a:rPr lang="ko-KR" altLang="en-US" dirty="0" err="1" smtClean="0"/>
              <a:t>pt</a:t>
            </a:r>
            <a:r>
              <a:rPr lang="ko-KR" altLang="en-US" dirty="0" smtClean="0"/>
              <a:t> = (POINT*)</a:t>
            </a:r>
            <a:r>
              <a:rPr lang="ko-KR" altLang="en-US" dirty="0" err="1" smtClean="0"/>
              <a:t>malloc</a:t>
            </a:r>
            <a:r>
              <a:rPr lang="ko-KR" altLang="en-US" dirty="0" smtClean="0"/>
              <a:t>(POINT);</a:t>
            </a:r>
          </a:p>
          <a:p>
            <a:r>
              <a:rPr lang="ko-KR" altLang="en-US" dirty="0" err="1" smtClean="0"/>
              <a:t>pt</a:t>
            </a:r>
            <a:r>
              <a:rPr lang="ko-KR" altLang="en-US" dirty="0" smtClean="0"/>
              <a:t>-&gt;</a:t>
            </a:r>
            <a:r>
              <a:rPr lang="ko-KR" altLang="en-US" dirty="0" err="1" smtClean="0"/>
              <a:t>x</a:t>
            </a:r>
            <a:r>
              <a:rPr lang="ko-KR" altLang="en-US" dirty="0" smtClean="0"/>
              <a:t> = 10;</a:t>
            </a:r>
          </a:p>
          <a:p>
            <a:r>
              <a:rPr lang="ko-KR" altLang="en-US" dirty="0" err="1" smtClean="0"/>
              <a:t>pt</a:t>
            </a:r>
            <a:r>
              <a:rPr lang="ko-KR" altLang="en-US" dirty="0" smtClean="0"/>
              <a:t>-&gt;</a:t>
            </a:r>
            <a:r>
              <a:rPr lang="ko-KR" altLang="en-US" dirty="0" err="1" smtClean="0"/>
              <a:t>y</a:t>
            </a:r>
            <a:r>
              <a:rPr lang="ko-KR" altLang="en-US" dirty="0" smtClean="0"/>
              <a:t> = 20;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556" y="825884"/>
            <a:ext cx="5469004" cy="2964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135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8675" y="142042"/>
            <a:ext cx="1179842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Skeleton </a:t>
            </a:r>
            <a:r>
              <a:rPr lang="ko-KR" altLang="en-US" b="1" dirty="0" smtClean="0"/>
              <a:t>코드</a:t>
            </a:r>
            <a:endParaRPr lang="ko-KR" altLang="en-US" b="1" dirty="0"/>
          </a:p>
        </p:txBody>
      </p:sp>
      <p:sp>
        <p:nvSpPr>
          <p:cNvPr id="5" name="직사각형 4"/>
          <p:cNvSpPr/>
          <p:nvPr/>
        </p:nvSpPr>
        <p:spPr>
          <a:xfrm>
            <a:off x="621437" y="1548287"/>
            <a:ext cx="3861786" cy="48649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621437" y="779456"/>
            <a:ext cx="25779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err="1" smtClean="0"/>
              <a:t>WinMain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약속된 이름</a:t>
            </a:r>
            <a:r>
              <a:rPr lang="en-US" altLang="ko-KR" b="1" dirty="0" smtClean="0"/>
              <a:t>)</a:t>
            </a:r>
          </a:p>
          <a:p>
            <a:r>
              <a:rPr lang="en-US" altLang="ko-KR" b="1" dirty="0" smtClean="0"/>
              <a:t>- </a:t>
            </a:r>
            <a:r>
              <a:rPr lang="ko-KR" altLang="en-US" b="1" dirty="0" err="1" smtClean="0"/>
              <a:t>시작함수</a:t>
            </a:r>
            <a:endParaRPr lang="ko-KR" alt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749793" y="1903364"/>
            <a:ext cx="3605073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1. </a:t>
            </a:r>
            <a:r>
              <a:rPr lang="ko-KR" altLang="en-US" b="1" dirty="0" smtClean="0"/>
              <a:t>윈도우 클래스 정의</a:t>
            </a:r>
            <a:endParaRPr lang="ko-KR" alt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49792" y="2627773"/>
            <a:ext cx="3605073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2. 1</a:t>
            </a:r>
            <a:r>
              <a:rPr lang="ko-KR" altLang="en-US" b="1" dirty="0" smtClean="0"/>
              <a:t>에서 정의한 윈도우 클래스를</a:t>
            </a:r>
            <a:endParaRPr lang="en-US" altLang="ko-KR" b="1" dirty="0" smtClean="0"/>
          </a:p>
          <a:p>
            <a:r>
              <a:rPr lang="en-US" altLang="ko-KR" b="1" dirty="0"/>
              <a:t> </a:t>
            </a:r>
            <a:r>
              <a:rPr lang="en-US" altLang="ko-KR" b="1" dirty="0" smtClean="0"/>
              <a:t>  </a:t>
            </a:r>
            <a:r>
              <a:rPr lang="ko-KR" altLang="en-US" b="1" dirty="0" smtClean="0">
                <a:solidFill>
                  <a:schemeClr val="accent2">
                    <a:lumMod val="75000"/>
                  </a:schemeClr>
                </a:solidFill>
              </a:rPr>
              <a:t>레지스트리에 저장</a:t>
            </a:r>
            <a:endParaRPr lang="ko-KR" alt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9792" y="3629181"/>
            <a:ext cx="3605073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3. </a:t>
            </a:r>
            <a:r>
              <a:rPr lang="ko-KR" altLang="en-US" b="1" dirty="0" smtClean="0"/>
              <a:t>윈도우를 생성</a:t>
            </a:r>
            <a:endParaRPr lang="ko-KR" altLang="en-US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49791" y="4367762"/>
            <a:ext cx="3605073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4. 3</a:t>
            </a:r>
            <a:r>
              <a:rPr lang="ko-KR" altLang="en-US" b="1" dirty="0" smtClean="0"/>
              <a:t>에서 생성한 윈도우를 화면에 </a:t>
            </a:r>
            <a:endParaRPr lang="en-US" altLang="ko-KR" b="1" dirty="0" smtClean="0"/>
          </a:p>
          <a:p>
            <a:r>
              <a:rPr lang="en-US" altLang="ko-KR" b="1" dirty="0"/>
              <a:t> </a:t>
            </a:r>
            <a:r>
              <a:rPr lang="en-US" altLang="ko-KR" b="1" dirty="0" smtClean="0"/>
              <a:t>  </a:t>
            </a:r>
            <a:r>
              <a:rPr lang="ko-KR" altLang="en-US" b="1" dirty="0" smtClean="0"/>
              <a:t>출력</a:t>
            </a:r>
            <a:endParaRPr lang="ko-KR" altLang="en-US" b="1" dirty="0"/>
          </a:p>
        </p:txBody>
      </p:sp>
      <p:sp>
        <p:nvSpPr>
          <p:cNvPr id="2" name="직사각형 1"/>
          <p:cNvSpPr/>
          <p:nvPr/>
        </p:nvSpPr>
        <p:spPr>
          <a:xfrm>
            <a:off x="3229513" y="1713395"/>
            <a:ext cx="250741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구조체 변수 선언</a:t>
            </a:r>
            <a:r>
              <a:rPr lang="en-US" altLang="ko-KR" b="1" dirty="0" smtClean="0">
                <a:solidFill>
                  <a:srgbClr val="FF0000"/>
                </a:solidFill>
              </a:rPr>
              <a:t>, </a:t>
            </a: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윈도우의 설정 값 저장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6729274" y="1709806"/>
            <a:ext cx="5166804" cy="11488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7075024" y="2947416"/>
            <a:ext cx="47516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윈도우 클래스 저장하는 저장소</a:t>
            </a:r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레지스트리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39479" y="2098762"/>
            <a:ext cx="701815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222</a:t>
            </a:r>
            <a:endParaRPr lang="ko-KR" altLang="en-US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9562917" y="2104988"/>
            <a:ext cx="701815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333</a:t>
            </a:r>
            <a:endParaRPr lang="ko-KR" altLang="en-US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0836437" y="2088030"/>
            <a:ext cx="701815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444</a:t>
            </a:r>
            <a:endParaRPr lang="ko-KR" altLang="en-US" b="1" dirty="0"/>
          </a:p>
        </p:txBody>
      </p:sp>
      <p:sp>
        <p:nvSpPr>
          <p:cNvPr id="21" name="직사각형 20"/>
          <p:cNvSpPr/>
          <p:nvPr/>
        </p:nvSpPr>
        <p:spPr>
          <a:xfrm>
            <a:off x="3199387" y="3508428"/>
            <a:ext cx="219483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solidFill>
                  <a:srgbClr val="FF0000"/>
                </a:solidFill>
              </a:rPr>
              <a:t>WC </a:t>
            </a:r>
            <a:r>
              <a:rPr lang="ko-KR" altLang="en-US" b="1" dirty="0" smtClean="0">
                <a:solidFill>
                  <a:srgbClr val="FF0000"/>
                </a:solidFill>
              </a:rPr>
              <a:t>하나를 선택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윈도우 객체를 생성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317072" y="1502090"/>
            <a:ext cx="912441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wb41</a:t>
            </a:r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7149504" y="3687710"/>
            <a:ext cx="1222139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wb41</a:t>
            </a:r>
            <a:endParaRPr lang="ko-KR" altLang="en-US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7149504" y="4058672"/>
            <a:ext cx="1222139" cy="36933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111</a:t>
            </a:r>
            <a:endParaRPr lang="ko-KR" altLang="en-US" b="1" dirty="0"/>
          </a:p>
        </p:txBody>
      </p:sp>
      <p:sp>
        <p:nvSpPr>
          <p:cNvPr id="25" name="직사각형 24"/>
          <p:cNvSpPr/>
          <p:nvPr/>
        </p:nvSpPr>
        <p:spPr>
          <a:xfrm>
            <a:off x="7216478" y="4506261"/>
            <a:ext cx="46634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윈도우 객체</a:t>
            </a:r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ko-KR" altLang="en-US" b="1" dirty="0" smtClean="0">
                <a:solidFill>
                  <a:srgbClr val="FF0000"/>
                </a:solidFill>
              </a:rPr>
              <a:t>메모리에 저장된 정보</a:t>
            </a:r>
            <a:r>
              <a:rPr lang="en-US" altLang="ko-KR" b="1" dirty="0" smtClean="0">
                <a:solidFill>
                  <a:srgbClr val="FF0000"/>
                </a:solidFill>
              </a:rPr>
              <a:t>, </a:t>
            </a:r>
            <a:r>
              <a:rPr lang="ko-KR" altLang="en-US" b="1" dirty="0" smtClean="0">
                <a:solidFill>
                  <a:srgbClr val="FF0000"/>
                </a:solidFill>
              </a:rPr>
              <a:t>데이터</a:t>
            </a:r>
            <a:r>
              <a:rPr lang="en-US" altLang="ko-KR" b="1" dirty="0" smtClean="0">
                <a:solidFill>
                  <a:srgbClr val="FF0000"/>
                </a:solidFill>
              </a:rPr>
              <a:t>)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26" name="직선 화살표 연결선 25"/>
          <p:cNvCxnSpPr/>
          <p:nvPr/>
        </p:nvCxnSpPr>
        <p:spPr>
          <a:xfrm>
            <a:off x="5486400" y="3872376"/>
            <a:ext cx="1555092" cy="37096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962942" y="2088030"/>
            <a:ext cx="912441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wb41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924635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8675" y="142042"/>
            <a:ext cx="1179842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메시지 처리 흐름</a:t>
            </a:r>
            <a:r>
              <a:rPr lang="en-US" altLang="ko-KR" b="1" dirty="0" smtClean="0"/>
              <a:t>(p38)</a:t>
            </a:r>
            <a:endParaRPr lang="ko-KR" altLang="en-US" b="1" dirty="0"/>
          </a:p>
        </p:txBody>
      </p:sp>
      <p:cxnSp>
        <p:nvCxnSpPr>
          <p:cNvPr id="6" name="직선 연결선 5"/>
          <p:cNvCxnSpPr/>
          <p:nvPr/>
        </p:nvCxnSpPr>
        <p:spPr>
          <a:xfrm flipH="1">
            <a:off x="2450237" y="798990"/>
            <a:ext cx="8879" cy="56373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/>
        </p:nvCxnSpPr>
        <p:spPr>
          <a:xfrm flipH="1">
            <a:off x="8328735" y="798990"/>
            <a:ext cx="26633" cy="55751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155994" y="1846554"/>
            <a:ext cx="2041864" cy="10830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55994" y="1626091"/>
            <a:ext cx="2041864" cy="22046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/>
              <a:t>AAA</a:t>
            </a:r>
            <a:endParaRPr lang="ko-KR" altLang="en-US" dirty="0"/>
          </a:p>
        </p:txBody>
      </p:sp>
      <p:sp>
        <p:nvSpPr>
          <p:cNvPr id="11" name="직사각형 10"/>
          <p:cNvSpPr/>
          <p:nvPr/>
        </p:nvSpPr>
        <p:spPr>
          <a:xfrm>
            <a:off x="155994" y="3925408"/>
            <a:ext cx="2041864" cy="10830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55994" y="3704945"/>
            <a:ext cx="2041864" cy="22046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/>
              <a:t>BBB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738345" y="547171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smtClean="0"/>
              <a:t>모니터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4906291" y="555909"/>
            <a:ext cx="4940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/>
              <a:t>OS</a:t>
            </a:r>
            <a:endParaRPr lang="ko-KR" altLang="en-US" b="1" dirty="0"/>
          </a:p>
        </p:txBody>
      </p:sp>
      <p:sp>
        <p:nvSpPr>
          <p:cNvPr id="15" name="포인트가 4개인 별 14"/>
          <p:cNvSpPr/>
          <p:nvPr/>
        </p:nvSpPr>
        <p:spPr>
          <a:xfrm>
            <a:off x="1406883" y="1869857"/>
            <a:ext cx="417250" cy="394319"/>
          </a:xfrm>
          <a:prstGeom prst="star4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포인트가 4개인 별 15"/>
          <p:cNvSpPr/>
          <p:nvPr/>
        </p:nvSpPr>
        <p:spPr>
          <a:xfrm>
            <a:off x="1398209" y="3948711"/>
            <a:ext cx="417250" cy="394319"/>
          </a:xfrm>
          <a:prstGeom prst="star4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2753452" y="1224009"/>
            <a:ext cx="1685383" cy="6225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장치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드라이버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505576" y="1236685"/>
            <a:ext cx="24881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dirty="0" smtClean="0">
                <a:solidFill>
                  <a:srgbClr val="FF0000"/>
                </a:solidFill>
              </a:rPr>
              <a:t>이벤트    </a:t>
            </a:r>
            <a:r>
              <a:rPr lang="en-US" altLang="ko-KR" dirty="0" smtClean="0">
                <a:solidFill>
                  <a:srgbClr val="FF0000"/>
                </a:solidFill>
              </a:rPr>
              <a:t>&gt;&gt; </a:t>
            </a:r>
            <a:r>
              <a:rPr lang="ko-KR" altLang="en-US" dirty="0" smtClean="0">
                <a:solidFill>
                  <a:srgbClr val="FF0000"/>
                </a:solidFill>
              </a:rPr>
              <a:t>메시지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en-US" altLang="ko-KR" dirty="0" smtClean="0">
                <a:solidFill>
                  <a:srgbClr val="FF0000"/>
                </a:solidFill>
              </a:rPr>
              <a:t>(</a:t>
            </a:r>
            <a:r>
              <a:rPr lang="ko-KR" altLang="en-US" dirty="0" smtClean="0">
                <a:solidFill>
                  <a:srgbClr val="FF0000"/>
                </a:solidFill>
              </a:rPr>
              <a:t>전기신호</a:t>
            </a:r>
            <a:r>
              <a:rPr lang="en-US" altLang="ko-KR" dirty="0" smtClean="0">
                <a:solidFill>
                  <a:srgbClr val="FF0000"/>
                </a:solidFill>
              </a:rPr>
              <a:t>)&gt;&gt; (</a:t>
            </a:r>
            <a:r>
              <a:rPr lang="ko-KR" altLang="en-US" dirty="0" smtClean="0">
                <a:solidFill>
                  <a:srgbClr val="FF0000"/>
                </a:solidFill>
              </a:rPr>
              <a:t>데이터</a:t>
            </a:r>
            <a:r>
              <a:rPr lang="en-US" altLang="ko-KR" dirty="0" smtClean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753451" y="2671906"/>
            <a:ext cx="1685383" cy="20660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시스템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큐</a:t>
            </a:r>
            <a:r>
              <a:rPr lang="en-US" altLang="ko-KR" dirty="0" smtClean="0">
                <a:solidFill>
                  <a:schemeClr val="tx1"/>
                </a:solidFill>
              </a:rPr>
              <a:t>(Queue)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FIFO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아래쪽 화살표 21"/>
          <p:cNvSpPr/>
          <p:nvPr/>
        </p:nvSpPr>
        <p:spPr>
          <a:xfrm rot="13593638">
            <a:off x="2411794" y="1808094"/>
            <a:ext cx="261258" cy="5178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아래쪽 화살표 22"/>
          <p:cNvSpPr/>
          <p:nvPr/>
        </p:nvSpPr>
        <p:spPr>
          <a:xfrm>
            <a:off x="3498912" y="1977205"/>
            <a:ext cx="261258" cy="5178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2712131" y="5319881"/>
            <a:ext cx="1685383" cy="9679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분배기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5" name="아래쪽 화살표 24"/>
          <p:cNvSpPr/>
          <p:nvPr/>
        </p:nvSpPr>
        <p:spPr>
          <a:xfrm>
            <a:off x="3476875" y="4770009"/>
            <a:ext cx="261258" cy="51784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/>
          <p:cNvSpPr/>
          <p:nvPr/>
        </p:nvSpPr>
        <p:spPr>
          <a:xfrm>
            <a:off x="4350475" y="5561185"/>
            <a:ext cx="33505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dirty="0" smtClean="0">
                <a:solidFill>
                  <a:srgbClr val="FF0000"/>
                </a:solidFill>
              </a:rPr>
              <a:t>큐 메시지 </a:t>
            </a:r>
            <a:r>
              <a:rPr lang="en-US" altLang="ko-KR" dirty="0" smtClean="0">
                <a:solidFill>
                  <a:srgbClr val="FF0000"/>
                </a:solidFill>
              </a:rPr>
              <a:t>POP : </a:t>
            </a:r>
            <a:r>
              <a:rPr lang="en-US" altLang="ko-KR" dirty="0" err="1" smtClean="0">
                <a:solidFill>
                  <a:srgbClr val="FF0000"/>
                </a:solidFill>
              </a:rPr>
              <a:t>GetMessage</a:t>
            </a:r>
            <a:r>
              <a:rPr lang="en-US" altLang="ko-KR" dirty="0" smtClean="0">
                <a:solidFill>
                  <a:srgbClr val="FF0000"/>
                </a:solidFill>
              </a:rPr>
              <a:t>()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6407497" y="2341419"/>
            <a:ext cx="1685383" cy="925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&lt;AAA&gt;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Application 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큐</a:t>
            </a:r>
            <a:r>
              <a:rPr lang="en-US" altLang="ko-KR" dirty="0" smtClean="0">
                <a:solidFill>
                  <a:schemeClr val="tx1"/>
                </a:solidFill>
              </a:rPr>
              <a:t>(Queue)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6407497" y="3925408"/>
            <a:ext cx="1685383" cy="925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&lt;BBB&gt;</a:t>
            </a: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Application 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큐</a:t>
            </a:r>
            <a:r>
              <a:rPr lang="en-US" altLang="ko-KR" dirty="0" smtClean="0">
                <a:solidFill>
                  <a:schemeClr val="tx1"/>
                </a:solidFill>
              </a:rPr>
              <a:t>(Queue)</a:t>
            </a:r>
          </a:p>
        </p:txBody>
      </p:sp>
      <p:sp>
        <p:nvSpPr>
          <p:cNvPr id="29" name="아래쪽 화살표 28"/>
          <p:cNvSpPr/>
          <p:nvPr/>
        </p:nvSpPr>
        <p:spPr>
          <a:xfrm rot="13576664">
            <a:off x="5344184" y="3057481"/>
            <a:ext cx="261258" cy="27314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3073523" y="3696064"/>
            <a:ext cx="994299" cy="32107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MSG</a:t>
            </a:r>
            <a:endParaRPr lang="ko-KR" altLang="en-US" dirty="0"/>
          </a:p>
        </p:txBody>
      </p:sp>
      <p:sp>
        <p:nvSpPr>
          <p:cNvPr id="20" name="타원 19"/>
          <p:cNvSpPr/>
          <p:nvPr/>
        </p:nvSpPr>
        <p:spPr>
          <a:xfrm>
            <a:off x="3073524" y="4388190"/>
            <a:ext cx="994299" cy="32107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MSG</a:t>
            </a:r>
            <a:endParaRPr lang="ko-KR" altLang="en-US" dirty="0"/>
          </a:p>
        </p:txBody>
      </p:sp>
      <p:sp>
        <p:nvSpPr>
          <p:cNvPr id="30" name="직사각형 29"/>
          <p:cNvSpPr/>
          <p:nvPr/>
        </p:nvSpPr>
        <p:spPr>
          <a:xfrm>
            <a:off x="9690345" y="514734"/>
            <a:ext cx="13211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/>
              <a:t>User Code</a:t>
            </a:r>
            <a:endParaRPr lang="ko-KR" altLang="en-US" b="1" dirty="0"/>
          </a:p>
        </p:txBody>
      </p:sp>
      <p:sp>
        <p:nvSpPr>
          <p:cNvPr id="31" name="직사각형 30"/>
          <p:cNvSpPr/>
          <p:nvPr/>
        </p:nvSpPr>
        <p:spPr>
          <a:xfrm>
            <a:off x="9465762" y="1224009"/>
            <a:ext cx="1685383" cy="925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WinMain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b="1" dirty="0" err="1" smtClean="0">
                <a:solidFill>
                  <a:srgbClr val="FF0000"/>
                </a:solidFill>
              </a:rPr>
              <a:t>메시지루프</a:t>
            </a:r>
            <a:endParaRPr lang="en-US" altLang="ko-KR" b="1" dirty="0" smtClean="0">
              <a:solidFill>
                <a:srgbClr val="FF0000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9465762" y="2219481"/>
            <a:ext cx="1685383" cy="925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WndProc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9232188" y="893396"/>
            <a:ext cx="2041864" cy="22046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/>
              <a:t>AAA</a:t>
            </a:r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9538472" y="4256021"/>
            <a:ext cx="1685383" cy="925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WinMain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9538472" y="5241136"/>
            <a:ext cx="1685383" cy="925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WndProc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9304898" y="3925408"/>
            <a:ext cx="2041864" cy="22046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/>
              <a:t>BBB</a:t>
            </a:r>
            <a:endParaRPr lang="ko-KR" altLang="en-US" dirty="0"/>
          </a:p>
        </p:txBody>
      </p:sp>
      <p:sp>
        <p:nvSpPr>
          <p:cNvPr id="38" name="타원 37"/>
          <p:cNvSpPr/>
          <p:nvPr/>
        </p:nvSpPr>
        <p:spPr>
          <a:xfrm>
            <a:off x="7027681" y="2929631"/>
            <a:ext cx="994299" cy="32107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MSG</a:t>
            </a:r>
            <a:endParaRPr lang="ko-KR" altLang="en-US" dirty="0"/>
          </a:p>
        </p:txBody>
      </p:sp>
      <p:sp>
        <p:nvSpPr>
          <p:cNvPr id="39" name="타원 38"/>
          <p:cNvSpPr/>
          <p:nvPr/>
        </p:nvSpPr>
        <p:spPr>
          <a:xfrm>
            <a:off x="7073178" y="4491556"/>
            <a:ext cx="994299" cy="32107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MSG</a:t>
            </a:r>
            <a:endParaRPr lang="ko-KR" altLang="en-US" dirty="0"/>
          </a:p>
        </p:txBody>
      </p:sp>
      <p:sp>
        <p:nvSpPr>
          <p:cNvPr id="40" name="직사각형 39"/>
          <p:cNvSpPr/>
          <p:nvPr/>
        </p:nvSpPr>
        <p:spPr>
          <a:xfrm>
            <a:off x="11152244" y="1386707"/>
            <a:ext cx="190783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dirty="0" smtClean="0">
                <a:solidFill>
                  <a:srgbClr val="FF0000"/>
                </a:solidFill>
              </a:rPr>
              <a:t>APP </a:t>
            </a:r>
            <a:r>
              <a:rPr lang="ko-KR" altLang="en-US" dirty="0" smtClean="0">
                <a:solidFill>
                  <a:srgbClr val="FF0000"/>
                </a:solidFill>
              </a:rPr>
              <a:t>큐에서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pPr algn="ctr"/>
            <a:r>
              <a:rPr lang="ko-KR" altLang="en-US" dirty="0" smtClean="0">
                <a:solidFill>
                  <a:srgbClr val="FF0000"/>
                </a:solidFill>
              </a:rPr>
              <a:t>메시지 </a:t>
            </a:r>
            <a:r>
              <a:rPr lang="en-US" altLang="ko-KR" dirty="0" smtClean="0">
                <a:solidFill>
                  <a:srgbClr val="FF0000"/>
                </a:solidFill>
              </a:rPr>
              <a:t>POP</a:t>
            </a:r>
          </a:p>
          <a:p>
            <a:pPr algn="ctr"/>
            <a:r>
              <a:rPr lang="en-US" altLang="ko-KR" dirty="0" err="1" smtClean="0">
                <a:solidFill>
                  <a:srgbClr val="FF0000"/>
                </a:solidFill>
              </a:rPr>
              <a:t>WndProc</a:t>
            </a:r>
            <a:r>
              <a:rPr lang="ko-KR" altLang="en-US" dirty="0" smtClean="0">
                <a:solidFill>
                  <a:srgbClr val="FF0000"/>
                </a:solidFill>
              </a:rPr>
              <a:t>을 호출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10824686" y="2727061"/>
            <a:ext cx="1420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mtClean="0">
                <a:solidFill>
                  <a:srgbClr val="FF0000"/>
                </a:solidFill>
              </a:rPr>
              <a:t>메시지 처리</a:t>
            </a:r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560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8675" y="142042"/>
            <a:ext cx="1179842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Skeleton </a:t>
            </a:r>
            <a:r>
              <a:rPr lang="ko-KR" altLang="en-US" b="1" dirty="0" smtClean="0"/>
              <a:t>코드</a:t>
            </a:r>
            <a:endParaRPr lang="ko-KR" altLang="en-US" b="1" dirty="0"/>
          </a:p>
        </p:txBody>
      </p:sp>
      <p:sp>
        <p:nvSpPr>
          <p:cNvPr id="5" name="직사각형 4"/>
          <p:cNvSpPr/>
          <p:nvPr/>
        </p:nvSpPr>
        <p:spPr>
          <a:xfrm>
            <a:off x="3444536" y="1695635"/>
            <a:ext cx="3861786" cy="48649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8016536" y="1695635"/>
            <a:ext cx="3845510" cy="48649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3444536" y="926804"/>
            <a:ext cx="25779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err="1" smtClean="0"/>
              <a:t>WinMain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약속된 이름</a:t>
            </a:r>
            <a:r>
              <a:rPr lang="en-US" altLang="ko-KR" b="1" dirty="0" smtClean="0"/>
              <a:t>)</a:t>
            </a:r>
          </a:p>
          <a:p>
            <a:r>
              <a:rPr lang="en-US" altLang="ko-KR" b="1" dirty="0" smtClean="0"/>
              <a:t>- </a:t>
            </a:r>
            <a:r>
              <a:rPr lang="ko-KR" altLang="en-US" b="1" dirty="0" err="1" smtClean="0"/>
              <a:t>시작함수</a:t>
            </a:r>
            <a:endParaRPr lang="ko-KR" altLang="en-US" b="1" dirty="0"/>
          </a:p>
        </p:txBody>
      </p:sp>
      <p:sp>
        <p:nvSpPr>
          <p:cNvPr id="8" name="직사각형 7"/>
          <p:cNvSpPr/>
          <p:nvPr/>
        </p:nvSpPr>
        <p:spPr>
          <a:xfrm>
            <a:off x="8016536" y="901956"/>
            <a:ext cx="33670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err="1" smtClean="0"/>
              <a:t>WndProc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맘대로 정의한 이름</a:t>
            </a:r>
            <a:r>
              <a:rPr lang="en-US" altLang="ko-KR" b="1" dirty="0" smtClean="0"/>
              <a:t>)</a:t>
            </a:r>
          </a:p>
          <a:p>
            <a:r>
              <a:rPr lang="en-US" altLang="ko-KR" b="1" dirty="0" smtClean="0"/>
              <a:t>- </a:t>
            </a:r>
            <a:r>
              <a:rPr lang="ko-KR" altLang="en-US" b="1" dirty="0" smtClean="0"/>
              <a:t>메시지 처리 함수</a:t>
            </a:r>
            <a:endParaRPr lang="ko-KR" altLang="en-US" b="1" dirty="0"/>
          </a:p>
        </p:txBody>
      </p:sp>
      <p:sp>
        <p:nvSpPr>
          <p:cNvPr id="9" name="직사각형 8"/>
          <p:cNvSpPr/>
          <p:nvPr/>
        </p:nvSpPr>
        <p:spPr>
          <a:xfrm>
            <a:off x="3561321" y="1988564"/>
            <a:ext cx="3585204" cy="21406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mtClean="0">
                <a:solidFill>
                  <a:schemeClr val="tx1"/>
                </a:solidFill>
              </a:rPr>
              <a:t>윈도우 생성 출력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8146689" y="1925533"/>
            <a:ext cx="3585204" cy="43864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switch(</a:t>
            </a:r>
            <a:r>
              <a:rPr lang="en-US" altLang="ko-KR" dirty="0" err="1" smtClean="0">
                <a:solidFill>
                  <a:schemeClr val="tx1"/>
                </a:solidFill>
              </a:rPr>
              <a:t>msg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br>
              <a:rPr lang="en-US" altLang="ko-KR" dirty="0" smtClean="0">
                <a:solidFill>
                  <a:schemeClr val="tx1"/>
                </a:solidFill>
              </a:rPr>
            </a:br>
            <a:r>
              <a:rPr lang="en-US" altLang="ko-KR" dirty="0" smtClean="0">
                <a:solidFill>
                  <a:schemeClr val="tx1"/>
                </a:solidFill>
              </a:rPr>
              <a:t>{</a:t>
            </a: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 smtClean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endParaRPr lang="en-US" altLang="ko-KR" dirty="0" smtClean="0">
              <a:solidFill>
                <a:schemeClr val="tx1"/>
              </a:solidFill>
            </a:endParaRPr>
          </a:p>
          <a:p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   return </a:t>
            </a:r>
            <a:r>
              <a:rPr lang="en-US" altLang="ko-KR" dirty="0" err="1" smtClean="0">
                <a:solidFill>
                  <a:schemeClr val="tx1"/>
                </a:solidFill>
              </a:rPr>
              <a:t>DefWindowProc</a:t>
            </a:r>
            <a:r>
              <a:rPr lang="en-US" altLang="ko-KR" dirty="0" smtClean="0">
                <a:solidFill>
                  <a:schemeClr val="tx1"/>
                </a:solidFill>
              </a:rPr>
              <a:t>();</a:t>
            </a:r>
            <a:br>
              <a:rPr lang="en-US" altLang="ko-KR" dirty="0" smtClean="0">
                <a:solidFill>
                  <a:schemeClr val="tx1"/>
                </a:solidFill>
              </a:rPr>
            </a:br>
            <a:r>
              <a:rPr lang="en-US" altLang="ko-KR" dirty="0" smtClean="0">
                <a:solidFill>
                  <a:schemeClr val="tx1"/>
                </a:solidFill>
              </a:rPr>
              <a:t>}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561321" y="4918228"/>
            <a:ext cx="3585204" cy="14740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메시지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루프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GetMessage</a:t>
            </a:r>
            <a:r>
              <a:rPr lang="en-US" altLang="ko-KR" dirty="0" smtClean="0">
                <a:solidFill>
                  <a:schemeClr val="tx1"/>
                </a:solidFill>
              </a:rPr>
              <a:t>()</a:t>
            </a: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DispatchMessage</a:t>
            </a:r>
            <a:r>
              <a:rPr lang="en-US" altLang="ko-KR" dirty="0" smtClean="0">
                <a:solidFill>
                  <a:schemeClr val="tx1"/>
                </a:solidFill>
              </a:rPr>
              <a:t>()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851385" y="2838568"/>
            <a:ext cx="1685383" cy="329590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Application 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큐</a:t>
            </a:r>
            <a:r>
              <a:rPr lang="en-US" altLang="ko-KR" dirty="0" smtClean="0">
                <a:solidFill>
                  <a:schemeClr val="tx1"/>
                </a:solidFill>
              </a:rPr>
              <a:t>(Queue)</a:t>
            </a: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15" name="타원 14"/>
          <p:cNvSpPr/>
          <p:nvPr/>
        </p:nvSpPr>
        <p:spPr>
          <a:xfrm>
            <a:off x="1196926" y="4599421"/>
            <a:ext cx="994299" cy="32107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MSG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80295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8675" y="142042"/>
            <a:ext cx="1179842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프로그램 종료</a:t>
            </a:r>
            <a:endParaRPr lang="ko-KR" altLang="en-US" b="1" dirty="0"/>
          </a:p>
        </p:txBody>
      </p:sp>
      <p:sp>
        <p:nvSpPr>
          <p:cNvPr id="8" name="직사각형 7"/>
          <p:cNvSpPr/>
          <p:nvPr/>
        </p:nvSpPr>
        <p:spPr>
          <a:xfrm>
            <a:off x="4649460" y="677763"/>
            <a:ext cx="2580002" cy="1200329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ko-KR" b="1" dirty="0" err="1" smtClean="0"/>
              <a:t>DefWindowProc</a:t>
            </a:r>
            <a:endParaRPr lang="en-US" altLang="ko-KR" b="1" dirty="0" smtClean="0"/>
          </a:p>
          <a:p>
            <a:endParaRPr lang="en-US" altLang="ko-KR" b="1" dirty="0"/>
          </a:p>
          <a:p>
            <a:r>
              <a:rPr lang="en-US" altLang="ko-KR" b="1" dirty="0" smtClean="0"/>
              <a:t>case WM_CLOSE:</a:t>
            </a:r>
          </a:p>
          <a:p>
            <a:r>
              <a:rPr lang="en-US" altLang="ko-KR" b="1" dirty="0"/>
              <a:t> </a:t>
            </a:r>
            <a:r>
              <a:rPr lang="en-US" altLang="ko-KR" b="1" dirty="0" smtClean="0"/>
              <a:t>    </a:t>
            </a:r>
            <a:r>
              <a:rPr lang="en-US" altLang="ko-KR" b="1" dirty="0" err="1" smtClean="0"/>
              <a:t>DestroyWindow</a:t>
            </a:r>
            <a:r>
              <a:rPr lang="en-US" altLang="ko-KR" b="1" dirty="0" smtClean="0"/>
              <a:t>();</a:t>
            </a:r>
            <a:endParaRPr lang="ko-KR" altLang="en-US" b="1" dirty="0"/>
          </a:p>
        </p:txBody>
      </p:sp>
      <p:sp>
        <p:nvSpPr>
          <p:cNvPr id="17" name="직사각형 16"/>
          <p:cNvSpPr/>
          <p:nvPr/>
        </p:nvSpPr>
        <p:spPr>
          <a:xfrm>
            <a:off x="89201" y="717303"/>
            <a:ext cx="4234301" cy="59093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ko-KR" altLang="en-US" b="1" dirty="0" smtClean="0"/>
              <a:t>윈도우를 종료</a:t>
            </a:r>
            <a:r>
              <a:rPr lang="en-US" altLang="ko-KR" b="1" dirty="0" smtClean="0"/>
              <a:t>!</a:t>
            </a:r>
          </a:p>
          <a:p>
            <a:r>
              <a:rPr lang="en-US" altLang="ko-KR" b="1" dirty="0" smtClean="0"/>
              <a:t>(X</a:t>
            </a:r>
            <a:r>
              <a:rPr lang="ko-KR" altLang="en-US" b="1" dirty="0" smtClean="0"/>
              <a:t>버튼</a:t>
            </a:r>
            <a:r>
              <a:rPr lang="en-US" altLang="ko-KR" b="1" dirty="0" smtClean="0"/>
              <a:t>, </a:t>
            </a:r>
            <a:r>
              <a:rPr lang="ko-KR" altLang="en-US" b="1" dirty="0" err="1" smtClean="0"/>
              <a:t>종료메뉴</a:t>
            </a:r>
            <a:r>
              <a:rPr lang="en-US" altLang="ko-KR" b="1" dirty="0" smtClean="0"/>
              <a:t>)</a:t>
            </a:r>
          </a:p>
          <a:p>
            <a:endParaRPr lang="en-US" altLang="ko-KR" b="1" dirty="0"/>
          </a:p>
          <a:p>
            <a:pPr marL="342900" indent="-342900">
              <a:buAutoNum type="arabicParenR"/>
            </a:pPr>
            <a:r>
              <a:rPr lang="en-US" altLang="ko-KR" b="1" dirty="0" smtClean="0"/>
              <a:t>WM_CLOSE </a:t>
            </a:r>
            <a:r>
              <a:rPr lang="ko-KR" altLang="en-US" b="1" dirty="0" smtClean="0"/>
              <a:t>자동 발생</a:t>
            </a:r>
            <a:endParaRPr lang="en-US" altLang="ko-KR" b="1" dirty="0" smtClean="0"/>
          </a:p>
          <a:p>
            <a:pPr marL="342900" indent="-342900">
              <a:buAutoNum type="arabicParenR"/>
            </a:pPr>
            <a:r>
              <a:rPr lang="en-US" altLang="ko-KR" b="1" dirty="0" err="1" smtClean="0">
                <a:solidFill>
                  <a:schemeClr val="accent2">
                    <a:lumMod val="75000"/>
                  </a:schemeClr>
                </a:solidFill>
              </a:rPr>
              <a:t>DefWindowProc</a:t>
            </a:r>
            <a:r>
              <a:rPr lang="en-US" altLang="ko-KR" b="1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ko-KR" altLang="en-US" b="1" dirty="0" smtClean="0">
                <a:solidFill>
                  <a:schemeClr val="accent2">
                    <a:lumMod val="75000"/>
                  </a:schemeClr>
                </a:solidFill>
              </a:rPr>
              <a:t>정의가 되어 있다</a:t>
            </a:r>
            <a:r>
              <a:rPr lang="en-US" altLang="ko-KR" b="1" dirty="0" smtClean="0">
                <a:solidFill>
                  <a:schemeClr val="accent2">
                    <a:lumMod val="75000"/>
                  </a:schemeClr>
                </a:solidFill>
              </a:rPr>
              <a:t>.</a:t>
            </a:r>
          </a:p>
          <a:p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ko-KR" b="1" dirty="0" smtClean="0">
                <a:solidFill>
                  <a:schemeClr val="accent2">
                    <a:lumMod val="75000"/>
                  </a:schemeClr>
                </a:solidFill>
              </a:rPr>
              <a:t>   case WM_CLOSE:</a:t>
            </a:r>
          </a:p>
          <a:p>
            <a:r>
              <a:rPr lang="en-US" altLang="ko-KR" b="1" dirty="0"/>
              <a:t> </a:t>
            </a:r>
            <a:r>
              <a:rPr lang="en-US" altLang="ko-KR" b="1" dirty="0" smtClean="0"/>
              <a:t>         </a:t>
            </a:r>
            <a:r>
              <a:rPr lang="ko-KR" altLang="en-US" b="1" dirty="0" err="1" smtClean="0"/>
              <a:t>윈도우파괴</a:t>
            </a:r>
            <a:endParaRPr lang="en-US" altLang="ko-KR" b="1" dirty="0" smtClean="0"/>
          </a:p>
          <a:p>
            <a:r>
              <a:rPr lang="en-US" altLang="ko-KR" b="1" dirty="0"/>
              <a:t> </a:t>
            </a:r>
            <a:r>
              <a:rPr lang="en-US" altLang="ko-KR" b="1" dirty="0" smtClean="0"/>
              <a:t>         </a:t>
            </a:r>
            <a:r>
              <a:rPr lang="en-US" altLang="ko-KR" b="1" dirty="0" err="1" smtClean="0"/>
              <a:t>DestroyWindow</a:t>
            </a:r>
            <a:r>
              <a:rPr lang="en-US" altLang="ko-KR" b="1" dirty="0" smtClean="0"/>
              <a:t>();</a:t>
            </a:r>
          </a:p>
          <a:p>
            <a:r>
              <a:rPr lang="en-US" altLang="ko-KR" b="1" dirty="0"/>
              <a:t> </a:t>
            </a:r>
            <a:r>
              <a:rPr lang="en-US" altLang="ko-KR" b="1" dirty="0" smtClean="0"/>
              <a:t>            </a:t>
            </a:r>
            <a:r>
              <a:rPr lang="en-US" altLang="ko-KR" b="1" dirty="0" smtClean="0">
                <a:solidFill>
                  <a:srgbClr val="FF0000"/>
                </a:solidFill>
              </a:rPr>
              <a:t>WM_DESTROY </a:t>
            </a:r>
            <a:r>
              <a:rPr lang="ko-KR" altLang="en-US" b="1" dirty="0" smtClean="0">
                <a:solidFill>
                  <a:srgbClr val="FF0000"/>
                </a:solidFill>
              </a:rPr>
              <a:t>자동 발생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en-US" altLang="ko-KR" b="1" dirty="0"/>
              <a:t> </a:t>
            </a:r>
            <a:r>
              <a:rPr lang="en-US" altLang="ko-KR" b="1" dirty="0" smtClean="0"/>
              <a:t>         -&gt;</a:t>
            </a:r>
            <a:r>
              <a:rPr lang="ko-KR" altLang="en-US" b="1" dirty="0" smtClean="0"/>
              <a:t>화면 윈도우 사라짐</a:t>
            </a:r>
            <a:endParaRPr lang="en-US" altLang="ko-KR" b="1" dirty="0" smtClean="0"/>
          </a:p>
          <a:p>
            <a:endParaRPr lang="en-US" altLang="ko-KR" b="1" dirty="0"/>
          </a:p>
          <a:p>
            <a:r>
              <a:rPr lang="en-US" altLang="ko-KR" b="1" dirty="0" smtClean="0"/>
              <a:t>3) </a:t>
            </a:r>
            <a:r>
              <a:rPr lang="ko-KR" altLang="en-US" b="1" dirty="0" smtClean="0">
                <a:solidFill>
                  <a:schemeClr val="accent2">
                    <a:lumMod val="75000"/>
                  </a:schemeClr>
                </a:solidFill>
              </a:rPr>
              <a:t>사용자 프로시저</a:t>
            </a:r>
            <a:endParaRPr lang="en-US" altLang="ko-KR" b="1" dirty="0" smtClean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altLang="ko-KR" b="1" dirty="0" smtClean="0">
                <a:solidFill>
                  <a:schemeClr val="accent2">
                    <a:lumMod val="75000"/>
                  </a:schemeClr>
                </a:solidFill>
              </a:rPr>
              <a:t>   case WM_DESTROY</a:t>
            </a:r>
            <a:r>
              <a:rPr lang="en-US" altLang="ko-KR" b="1" dirty="0" smtClean="0"/>
              <a:t>:</a:t>
            </a:r>
          </a:p>
          <a:p>
            <a:r>
              <a:rPr lang="en-US" altLang="ko-KR" b="1" dirty="0"/>
              <a:t> </a:t>
            </a:r>
            <a:r>
              <a:rPr lang="en-US" altLang="ko-KR" b="1" dirty="0" smtClean="0"/>
              <a:t>      </a:t>
            </a:r>
            <a:r>
              <a:rPr lang="ko-KR" altLang="en-US" b="1" dirty="0" err="1" smtClean="0"/>
              <a:t>메시지큐에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WM_QUIT </a:t>
            </a:r>
            <a:r>
              <a:rPr lang="ko-KR" altLang="en-US" b="1" dirty="0" smtClean="0"/>
              <a:t>넣어준다</a:t>
            </a:r>
            <a:r>
              <a:rPr lang="en-US" altLang="ko-KR" b="1" dirty="0" smtClean="0"/>
              <a:t>.</a:t>
            </a:r>
          </a:p>
          <a:p>
            <a:r>
              <a:rPr lang="en-US" altLang="ko-KR" b="1" dirty="0"/>
              <a:t> </a:t>
            </a:r>
            <a:r>
              <a:rPr lang="en-US" altLang="ko-KR" b="1" dirty="0" smtClean="0"/>
              <a:t>      </a:t>
            </a:r>
            <a:r>
              <a:rPr lang="en-US" altLang="ko-KR" b="1" dirty="0" err="1" smtClean="0"/>
              <a:t>PostQuitMessage</a:t>
            </a:r>
            <a:r>
              <a:rPr lang="en-US" altLang="ko-KR" b="1" dirty="0" smtClean="0"/>
              <a:t>();</a:t>
            </a:r>
          </a:p>
          <a:p>
            <a:endParaRPr lang="en-US" altLang="ko-KR" b="1" dirty="0"/>
          </a:p>
          <a:p>
            <a:r>
              <a:rPr lang="en-US" altLang="ko-KR" b="1" dirty="0" smtClean="0"/>
              <a:t>4) </a:t>
            </a:r>
            <a:r>
              <a:rPr lang="ko-KR" altLang="en-US" b="1" dirty="0" err="1" smtClean="0"/>
              <a:t>메시지큐</a:t>
            </a:r>
            <a:endParaRPr lang="en-US" altLang="ko-KR" b="1" dirty="0" smtClean="0"/>
          </a:p>
          <a:p>
            <a:r>
              <a:rPr lang="en-US" altLang="ko-KR" b="1" dirty="0"/>
              <a:t> </a:t>
            </a:r>
            <a:r>
              <a:rPr lang="en-US" altLang="ko-KR" b="1" dirty="0" smtClean="0"/>
              <a:t>   WM_QUIT</a:t>
            </a:r>
            <a:r>
              <a:rPr lang="ko-KR" altLang="en-US" b="1" dirty="0" smtClean="0"/>
              <a:t>를</a:t>
            </a:r>
            <a:r>
              <a:rPr lang="en-US" altLang="ko-KR" b="1" dirty="0" smtClean="0"/>
              <a:t> </a:t>
            </a:r>
            <a:r>
              <a:rPr lang="ko-KR" altLang="en-US" b="1" dirty="0" smtClean="0"/>
              <a:t>획득 </a:t>
            </a:r>
            <a:r>
              <a:rPr lang="en-US" altLang="ko-KR" b="1" dirty="0" smtClean="0"/>
              <a:t>False</a:t>
            </a:r>
            <a:r>
              <a:rPr lang="ko-KR" altLang="en-US" b="1" dirty="0" smtClean="0"/>
              <a:t>반환</a:t>
            </a:r>
            <a:endParaRPr lang="en-US" altLang="ko-KR" b="1" dirty="0" smtClean="0"/>
          </a:p>
          <a:p>
            <a:r>
              <a:rPr lang="en-US" altLang="ko-KR" b="1" dirty="0"/>
              <a:t> </a:t>
            </a:r>
            <a:r>
              <a:rPr lang="en-US" altLang="ko-KR" b="1" dirty="0" smtClean="0"/>
              <a:t>   </a:t>
            </a:r>
            <a:r>
              <a:rPr lang="ko-KR" altLang="en-US" b="1" dirty="0" err="1" smtClean="0"/>
              <a:t>메시지루프</a:t>
            </a:r>
            <a:r>
              <a:rPr lang="ko-KR" altLang="en-US" b="1" dirty="0" smtClean="0"/>
              <a:t> 종료</a:t>
            </a:r>
            <a:endParaRPr lang="en-US" altLang="ko-KR" b="1" dirty="0" smtClean="0"/>
          </a:p>
          <a:p>
            <a:endParaRPr lang="en-US" altLang="ko-KR" b="1" dirty="0" smtClean="0"/>
          </a:p>
          <a:p>
            <a:r>
              <a:rPr lang="en-US" altLang="ko-KR" b="1" dirty="0" smtClean="0"/>
              <a:t>5) </a:t>
            </a:r>
            <a:r>
              <a:rPr lang="ko-KR" altLang="en-US" b="1" dirty="0" smtClean="0"/>
              <a:t>프로그램 종료</a:t>
            </a:r>
            <a:endParaRPr lang="ko-KR" altLang="en-US" b="1" dirty="0"/>
          </a:p>
        </p:txBody>
      </p:sp>
      <p:sp>
        <p:nvSpPr>
          <p:cNvPr id="2" name="직사각형 1"/>
          <p:cNvSpPr/>
          <p:nvPr/>
        </p:nvSpPr>
        <p:spPr>
          <a:xfrm>
            <a:off x="8623592" y="561243"/>
            <a:ext cx="3414527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 err="1" smtClean="0"/>
              <a:t>DestroyWindow</a:t>
            </a:r>
            <a:r>
              <a:rPr lang="en-US" altLang="ko-KR" b="1" dirty="0" smtClean="0"/>
              <a:t>()</a:t>
            </a:r>
          </a:p>
          <a:p>
            <a:r>
              <a:rPr lang="en-US" altLang="ko-KR" b="1" dirty="0" smtClean="0"/>
              <a:t>{</a:t>
            </a:r>
          </a:p>
          <a:p>
            <a:r>
              <a:rPr lang="en-US" altLang="ko-KR" b="1" dirty="0"/>
              <a:t> </a:t>
            </a:r>
            <a:r>
              <a:rPr lang="en-US" altLang="ko-KR" b="1" dirty="0" smtClean="0"/>
              <a:t>  …</a:t>
            </a: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   </a:t>
            </a:r>
            <a:r>
              <a:rPr lang="en-US" altLang="ko-KR" b="1" dirty="0" err="1" smtClean="0">
                <a:solidFill>
                  <a:srgbClr val="FF0000"/>
                </a:solidFill>
              </a:rPr>
              <a:t>SendMessage</a:t>
            </a:r>
            <a:r>
              <a:rPr lang="en-US" altLang="ko-KR" b="1" dirty="0" smtClean="0">
                <a:solidFill>
                  <a:srgbClr val="FF0000"/>
                </a:solidFill>
              </a:rPr>
              <a:t>(</a:t>
            </a:r>
            <a:r>
              <a:rPr lang="en-US" altLang="ko-KR" b="1" dirty="0" err="1" smtClean="0">
                <a:solidFill>
                  <a:srgbClr val="FF0000"/>
                </a:solidFill>
              </a:rPr>
              <a:t>hwnd</a:t>
            </a:r>
            <a:r>
              <a:rPr lang="en-US" altLang="ko-KR" b="1" dirty="0" smtClean="0">
                <a:solidFill>
                  <a:srgbClr val="FF0000"/>
                </a:solidFill>
              </a:rPr>
              <a:t>, </a:t>
            </a:r>
          </a:p>
          <a:p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en-US" altLang="ko-KR" b="1" dirty="0" smtClean="0">
                <a:solidFill>
                  <a:srgbClr val="FF0000"/>
                </a:solidFill>
              </a:rPr>
              <a:t>    WM_DESTROY, 0, 0);</a:t>
            </a:r>
          </a:p>
          <a:p>
            <a:r>
              <a:rPr lang="en-US" altLang="ko-KR" b="1" dirty="0">
                <a:solidFill>
                  <a:srgbClr val="FF0000"/>
                </a:solidFill>
              </a:rPr>
              <a:t> </a:t>
            </a:r>
            <a:r>
              <a:rPr lang="en-US" altLang="ko-KR" b="1" dirty="0" smtClean="0">
                <a:solidFill>
                  <a:srgbClr val="FF0000"/>
                </a:solidFill>
              </a:rPr>
              <a:t>  …</a:t>
            </a:r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b="1" dirty="0" smtClean="0"/>
              <a:t>}</a:t>
            </a:r>
            <a:endParaRPr lang="ko-KR" altLang="en-US" b="1" dirty="0"/>
          </a:p>
        </p:txBody>
      </p:sp>
      <p:sp>
        <p:nvSpPr>
          <p:cNvPr id="18" name="직사각형 17"/>
          <p:cNvSpPr/>
          <p:nvPr/>
        </p:nvSpPr>
        <p:spPr>
          <a:xfrm>
            <a:off x="4649460" y="2792128"/>
            <a:ext cx="2727350" cy="1200329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none">
            <a:spAutoFit/>
          </a:bodyPr>
          <a:lstStyle/>
          <a:p>
            <a:r>
              <a:rPr lang="en-US" altLang="ko-KR" b="1" dirty="0" err="1" smtClean="0"/>
              <a:t>WndProc</a:t>
            </a:r>
            <a:endParaRPr lang="en-US" altLang="ko-KR" b="1" dirty="0" smtClean="0"/>
          </a:p>
          <a:p>
            <a:endParaRPr lang="en-US" altLang="ko-KR" b="1" dirty="0"/>
          </a:p>
          <a:p>
            <a:r>
              <a:rPr lang="en-US" altLang="ko-KR" b="1" dirty="0" smtClean="0"/>
              <a:t>case WM_DESTORY:</a:t>
            </a:r>
          </a:p>
          <a:p>
            <a:r>
              <a:rPr lang="en-US" altLang="ko-KR" b="1" dirty="0"/>
              <a:t> </a:t>
            </a:r>
            <a:r>
              <a:rPr lang="en-US" altLang="ko-KR" b="1" dirty="0" smtClean="0"/>
              <a:t>    </a:t>
            </a:r>
            <a:r>
              <a:rPr lang="en-US" altLang="ko-KR" b="1" dirty="0" err="1" smtClean="0"/>
              <a:t>PostQuitMessage</a:t>
            </a:r>
            <a:r>
              <a:rPr lang="en-US" altLang="ko-KR" b="1" dirty="0" smtClean="0"/>
              <a:t>();</a:t>
            </a:r>
            <a:endParaRPr lang="ko-KR" altLang="en-US" b="1" dirty="0"/>
          </a:p>
        </p:txBody>
      </p:sp>
      <p:cxnSp>
        <p:nvCxnSpPr>
          <p:cNvPr id="19" name="직선 화살표 연결선 18"/>
          <p:cNvCxnSpPr/>
          <p:nvPr/>
        </p:nvCxnSpPr>
        <p:spPr>
          <a:xfrm flipV="1">
            <a:off x="7068500" y="782911"/>
            <a:ext cx="1555092" cy="8906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/>
          <p:nvPr/>
        </p:nvCxnSpPr>
        <p:spPr>
          <a:xfrm flipH="1">
            <a:off x="7068500" y="1576905"/>
            <a:ext cx="1782538" cy="192089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232724"/>
              </p:ext>
            </p:extLst>
          </p:nvPr>
        </p:nvGraphicFramePr>
        <p:xfrm>
          <a:off x="9365448" y="3250777"/>
          <a:ext cx="215826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8260">
                  <a:extLst>
                    <a:ext uri="{9D8B030D-6E8A-4147-A177-3AD203B41FA5}">
                      <a16:colId xmlns:a16="http://schemas.microsoft.com/office/drawing/2014/main" val="290628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625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082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377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709426"/>
                  </a:ext>
                </a:extLst>
              </a:tr>
            </a:tbl>
          </a:graphicData>
        </a:graphic>
      </p:graphicFrame>
      <p:sp>
        <p:nvSpPr>
          <p:cNvPr id="24" name="직사각형 23"/>
          <p:cNvSpPr/>
          <p:nvPr/>
        </p:nvSpPr>
        <p:spPr>
          <a:xfrm>
            <a:off x="9548624" y="4844565"/>
            <a:ext cx="1428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/>
              <a:t>APP Queue</a:t>
            </a:r>
            <a:endParaRPr lang="ko-KR" altLang="en-US" dirty="0"/>
          </a:p>
        </p:txBody>
      </p:sp>
      <p:sp>
        <p:nvSpPr>
          <p:cNvPr id="25" name="직사각형 24"/>
          <p:cNvSpPr/>
          <p:nvPr/>
        </p:nvSpPr>
        <p:spPr>
          <a:xfrm>
            <a:off x="9684684" y="4364805"/>
            <a:ext cx="1292341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/>
              <a:t>WM_QUIT</a:t>
            </a:r>
            <a:endParaRPr lang="ko-KR" altLang="en-US" dirty="0"/>
          </a:p>
        </p:txBody>
      </p:sp>
      <p:cxnSp>
        <p:nvCxnSpPr>
          <p:cNvPr id="26" name="직선 화살표 연결선 25"/>
          <p:cNvCxnSpPr/>
          <p:nvPr/>
        </p:nvCxnSpPr>
        <p:spPr>
          <a:xfrm>
            <a:off x="7229462" y="3870664"/>
            <a:ext cx="2319162" cy="6428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916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77196" y="2032986"/>
            <a:ext cx="3009530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1" dirty="0" smtClean="0"/>
              <a:t>0306</a:t>
            </a:r>
            <a:endParaRPr lang="ko-KR" altLang="en-US" sz="4800" b="1" dirty="0"/>
          </a:p>
        </p:txBody>
      </p:sp>
      <p:sp>
        <p:nvSpPr>
          <p:cNvPr id="9" name="직사각형 8"/>
          <p:cNvSpPr/>
          <p:nvPr/>
        </p:nvSpPr>
        <p:spPr>
          <a:xfrm>
            <a:off x="3728621" y="3181732"/>
            <a:ext cx="3825856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 smtClean="0"/>
              <a:t>이벤트 처리 흐름</a:t>
            </a:r>
            <a:endParaRPr lang="en-US" altLang="ko-KR" sz="2800" b="1" dirty="0" smtClean="0"/>
          </a:p>
          <a:p>
            <a:endParaRPr lang="en-US" altLang="ko-KR" sz="2800" b="1" dirty="0"/>
          </a:p>
          <a:p>
            <a:r>
              <a:rPr lang="en-US" altLang="ko-KR" sz="2800" b="1" dirty="0" smtClean="0"/>
              <a:t>Skeleton </a:t>
            </a:r>
            <a:r>
              <a:rPr lang="ko-KR" altLang="en-US" sz="2800" b="1" dirty="0" smtClean="0"/>
              <a:t>코드의 이해 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809543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8675" y="142042"/>
            <a:ext cx="1179842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메시지큐에서 메시지 획득하기</a:t>
            </a:r>
            <a:r>
              <a:rPr lang="en-US" altLang="ko-KR" b="1" dirty="0" smtClean="0"/>
              <a:t>(p41)</a:t>
            </a:r>
            <a:endParaRPr lang="ko-KR" altLang="en-US" b="1" dirty="0"/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647977"/>
              </p:ext>
            </p:extLst>
          </p:nvPr>
        </p:nvGraphicFramePr>
        <p:xfrm>
          <a:off x="1064827" y="2231287"/>
          <a:ext cx="215826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8260">
                  <a:extLst>
                    <a:ext uri="{9D8B030D-6E8A-4147-A177-3AD203B41FA5}">
                      <a16:colId xmlns:a16="http://schemas.microsoft.com/office/drawing/2014/main" val="290628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625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082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377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709426"/>
                  </a:ext>
                </a:extLst>
              </a:tr>
            </a:tbl>
          </a:graphicData>
        </a:graphic>
      </p:graphicFrame>
      <p:sp>
        <p:nvSpPr>
          <p:cNvPr id="29" name="직사각형 28"/>
          <p:cNvSpPr/>
          <p:nvPr/>
        </p:nvSpPr>
        <p:spPr>
          <a:xfrm>
            <a:off x="1248003" y="3825075"/>
            <a:ext cx="1428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/>
              <a:t>APP Queue</a:t>
            </a:r>
            <a:endParaRPr lang="ko-KR" altLang="en-US" dirty="0"/>
          </a:p>
        </p:txBody>
      </p:sp>
      <p:sp>
        <p:nvSpPr>
          <p:cNvPr id="30" name="직사각형 29"/>
          <p:cNvSpPr/>
          <p:nvPr/>
        </p:nvSpPr>
        <p:spPr>
          <a:xfrm>
            <a:off x="1610281" y="3345315"/>
            <a:ext cx="704039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/>
              <a:t>MSG</a:t>
            </a:r>
            <a:endParaRPr lang="ko-KR" altLang="en-US" dirty="0"/>
          </a:p>
        </p:txBody>
      </p:sp>
      <p:sp>
        <p:nvSpPr>
          <p:cNvPr id="31" name="직사각형 30"/>
          <p:cNvSpPr/>
          <p:nvPr/>
        </p:nvSpPr>
        <p:spPr>
          <a:xfrm>
            <a:off x="1634162" y="2952570"/>
            <a:ext cx="704039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/>
              <a:t>MSG</a:t>
            </a:r>
            <a:endParaRPr lang="ko-KR" altLang="en-US" dirty="0"/>
          </a:p>
        </p:txBody>
      </p:sp>
      <p:sp>
        <p:nvSpPr>
          <p:cNvPr id="32" name="직사각형 31"/>
          <p:cNvSpPr/>
          <p:nvPr/>
        </p:nvSpPr>
        <p:spPr>
          <a:xfrm>
            <a:off x="3792422" y="1392593"/>
            <a:ext cx="3861786" cy="486496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3792422" y="623762"/>
            <a:ext cx="25779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err="1" smtClean="0"/>
              <a:t>WinMain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약속된 이름</a:t>
            </a:r>
            <a:r>
              <a:rPr lang="en-US" altLang="ko-KR" b="1" dirty="0" smtClean="0"/>
              <a:t>)</a:t>
            </a:r>
          </a:p>
          <a:p>
            <a:r>
              <a:rPr lang="en-US" altLang="ko-KR" b="1" dirty="0" smtClean="0"/>
              <a:t>- </a:t>
            </a:r>
            <a:r>
              <a:rPr lang="ko-KR" altLang="en-US" b="1" dirty="0" err="1" smtClean="0"/>
              <a:t>시작함수</a:t>
            </a:r>
            <a:endParaRPr lang="ko-KR" altLang="en-US" b="1" dirty="0"/>
          </a:p>
        </p:txBody>
      </p:sp>
      <p:sp>
        <p:nvSpPr>
          <p:cNvPr id="34" name="직사각형 33"/>
          <p:cNvSpPr/>
          <p:nvPr/>
        </p:nvSpPr>
        <p:spPr>
          <a:xfrm>
            <a:off x="3909207" y="1685522"/>
            <a:ext cx="3585204" cy="21406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윈도우 생성 출력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3909207" y="4615186"/>
            <a:ext cx="3585204" cy="14740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메시지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루프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b="1" dirty="0" err="1" smtClean="0">
                <a:solidFill>
                  <a:schemeClr val="tx1"/>
                </a:solidFill>
              </a:rPr>
              <a:t>GetMessage</a:t>
            </a:r>
            <a:r>
              <a:rPr lang="en-US" altLang="ko-KR" dirty="0" smtClean="0">
                <a:solidFill>
                  <a:schemeClr val="tx1"/>
                </a:solidFill>
              </a:rPr>
              <a:t>() or </a:t>
            </a:r>
            <a:r>
              <a:rPr lang="en-US" altLang="ko-KR" b="1" dirty="0" err="1" smtClean="0">
                <a:solidFill>
                  <a:schemeClr val="tx1"/>
                </a:solidFill>
              </a:rPr>
              <a:t>PeekMessage</a:t>
            </a:r>
            <a:r>
              <a:rPr lang="en-US" altLang="ko-KR" b="1" dirty="0" smtClean="0">
                <a:solidFill>
                  <a:schemeClr val="tx1"/>
                </a:solidFill>
              </a:rPr>
              <a:t>()</a:t>
            </a:r>
          </a:p>
          <a:p>
            <a:pPr algn="ctr"/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DispatchMessage</a:t>
            </a:r>
            <a:r>
              <a:rPr lang="en-US" altLang="ko-KR" dirty="0" smtClean="0">
                <a:solidFill>
                  <a:schemeClr val="tx1"/>
                </a:solidFill>
              </a:rPr>
              <a:t>()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6" name="직선 화살표 연결선 35"/>
          <p:cNvCxnSpPr/>
          <p:nvPr/>
        </p:nvCxnSpPr>
        <p:spPr>
          <a:xfrm flipH="1" flipV="1">
            <a:off x="3223089" y="3559947"/>
            <a:ext cx="1686262" cy="153583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8067131" y="2054446"/>
            <a:ext cx="38999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err="1" smtClean="0"/>
              <a:t>GetMessage</a:t>
            </a:r>
            <a:r>
              <a:rPr lang="en-US" altLang="ko-KR" b="1" dirty="0" smtClean="0"/>
              <a:t>       </a:t>
            </a:r>
            <a:r>
              <a:rPr lang="ko-KR" altLang="en-US" b="1" dirty="0" smtClean="0"/>
              <a:t>기다린다</a:t>
            </a:r>
            <a:r>
              <a:rPr lang="en-US" altLang="ko-KR" b="1" dirty="0" smtClean="0"/>
              <a:t>.</a:t>
            </a:r>
          </a:p>
          <a:p>
            <a:r>
              <a:rPr lang="en-US" altLang="ko-KR" b="1" dirty="0"/>
              <a:t> </a:t>
            </a:r>
            <a:r>
              <a:rPr lang="en-US" altLang="ko-KR" b="1" dirty="0" smtClean="0"/>
              <a:t>                       </a:t>
            </a:r>
            <a:r>
              <a:rPr lang="ko-KR" altLang="en-US" b="1" dirty="0" smtClean="0"/>
              <a:t>리턴을 못한다</a:t>
            </a:r>
            <a:r>
              <a:rPr lang="en-US" altLang="ko-KR" b="1" dirty="0" smtClean="0"/>
              <a:t>.</a:t>
            </a:r>
            <a:endParaRPr lang="ko-KR" altLang="en-US" dirty="0"/>
          </a:p>
        </p:txBody>
      </p:sp>
      <p:sp>
        <p:nvSpPr>
          <p:cNvPr id="16" name="직사각형 15"/>
          <p:cNvSpPr/>
          <p:nvPr/>
        </p:nvSpPr>
        <p:spPr>
          <a:xfrm>
            <a:off x="8067131" y="3005948"/>
            <a:ext cx="4222951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err="1" smtClean="0"/>
              <a:t>PeekMessage</a:t>
            </a:r>
            <a:r>
              <a:rPr lang="en-US" altLang="ko-KR" b="1" dirty="0" smtClean="0"/>
              <a:t>      </a:t>
            </a:r>
            <a:r>
              <a:rPr lang="ko-KR" altLang="en-US" b="1" dirty="0" smtClean="0"/>
              <a:t>무조건 리턴을 한다</a:t>
            </a:r>
            <a:r>
              <a:rPr lang="en-US" altLang="ko-KR" b="1" dirty="0" smtClean="0"/>
              <a:t>.</a:t>
            </a:r>
          </a:p>
          <a:p>
            <a:endParaRPr lang="en-US" altLang="ko-KR" b="1" dirty="0"/>
          </a:p>
          <a:p>
            <a:r>
              <a:rPr lang="en-US" altLang="ko-KR" dirty="0" smtClean="0">
                <a:solidFill>
                  <a:schemeClr val="accent6">
                    <a:lumMod val="75000"/>
                  </a:schemeClr>
                </a:solidFill>
              </a:rPr>
              <a:t>* </a:t>
            </a:r>
            <a:r>
              <a:rPr lang="ko-KR" altLang="en-US" dirty="0" err="1" smtClean="0">
                <a:solidFill>
                  <a:schemeClr val="accent6">
                    <a:lumMod val="75000"/>
                  </a:schemeClr>
                </a:solidFill>
              </a:rPr>
              <a:t>유휴시간</a:t>
            </a:r>
            <a:r>
              <a:rPr lang="en-US" altLang="ko-KR" dirty="0" smtClean="0">
                <a:solidFill>
                  <a:schemeClr val="accent6">
                    <a:lumMod val="75000"/>
                  </a:schemeClr>
                </a:solidFill>
              </a:rPr>
              <a:t>(idle time) </a:t>
            </a:r>
            <a:r>
              <a:rPr lang="ko-KR" altLang="en-US" dirty="0" smtClean="0">
                <a:solidFill>
                  <a:schemeClr val="accent6">
                    <a:lumMod val="75000"/>
                  </a:schemeClr>
                </a:solidFill>
              </a:rPr>
              <a:t>활용하고자</a:t>
            </a:r>
            <a:endParaRPr lang="en-US" altLang="ko-KR" dirty="0" smtClean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altLang="ko-KR" dirty="0" smtClean="0">
                <a:solidFill>
                  <a:schemeClr val="accent6">
                    <a:lumMod val="75000"/>
                  </a:schemeClr>
                </a:solidFill>
              </a:rPr>
              <a:t>   </a:t>
            </a:r>
            <a:r>
              <a:rPr lang="ko-KR" altLang="en-US" dirty="0" smtClean="0">
                <a:solidFill>
                  <a:schemeClr val="accent6">
                    <a:lumMod val="75000"/>
                  </a:schemeClr>
                </a:solidFill>
              </a:rPr>
              <a:t>할 경우에 사용한다</a:t>
            </a:r>
            <a:r>
              <a:rPr lang="en-US" altLang="ko-KR" dirty="0" smtClean="0">
                <a:solidFill>
                  <a:schemeClr val="accent6">
                    <a:lumMod val="75000"/>
                  </a:schemeClr>
                </a:solidFill>
              </a:rPr>
              <a:t>.</a:t>
            </a:r>
            <a:endParaRPr lang="ko-KR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9549858" y="1666328"/>
            <a:ext cx="2733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dirty="0" smtClean="0"/>
              <a:t>App Q </a:t>
            </a:r>
            <a:r>
              <a:rPr lang="ko-KR" altLang="en-US" dirty="0" smtClean="0"/>
              <a:t>메시지가 없을 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5428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8675" y="142042"/>
            <a:ext cx="1179842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사용자 정의 메시지</a:t>
            </a:r>
            <a:r>
              <a:rPr lang="en-US" altLang="ko-KR" b="1" dirty="0" smtClean="0"/>
              <a:t>(p42)</a:t>
            </a:r>
            <a:endParaRPr lang="ko-KR" altLang="en-US" b="1" dirty="0"/>
          </a:p>
        </p:txBody>
      </p:sp>
      <p:sp>
        <p:nvSpPr>
          <p:cNvPr id="2" name="직사각형 1"/>
          <p:cNvSpPr/>
          <p:nvPr/>
        </p:nvSpPr>
        <p:spPr>
          <a:xfrm>
            <a:off x="480059" y="1079975"/>
            <a:ext cx="549381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1) </a:t>
            </a:r>
            <a:r>
              <a:rPr lang="ko-KR" altLang="en-US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메시지는 정의</a:t>
            </a:r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되어 있다</a:t>
            </a:r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</a:p>
          <a:p>
            <a:r>
              <a:rPr lang="en-US" altLang="ko-KR" dirty="0" smtClean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#</a:t>
            </a:r>
            <a:r>
              <a:rPr lang="en-US" altLang="ko-KR" dirty="0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define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solidFill>
                  <a:srgbClr val="6F008A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WM_LBUTTONUP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                   0x0202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480059" y="2194239"/>
            <a:ext cx="37625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2B91AF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POINTS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pt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dirty="0">
                <a:solidFill>
                  <a:srgbClr val="6F008A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MAKEPOINTS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dirty="0" err="1">
                <a:solidFill>
                  <a:srgbClr val="80808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lParam</a:t>
            </a:r>
            <a:r>
              <a:rPr lang="en-US" altLang="ko-KR" dirty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480059" y="1824907"/>
            <a:ext cx="45576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2) </a:t>
            </a:r>
            <a:r>
              <a:rPr lang="ko-KR" altLang="en-US" b="1" dirty="0" err="1" smtClean="0">
                <a:latin typeface="돋움체" panose="020B0609000101010101" pitchFamily="49" charset="-127"/>
                <a:ea typeface="돋움체" panose="020B0609000101010101" pitchFamily="49" charset="-127"/>
              </a:rPr>
              <a:t>메시지별</a:t>
            </a:r>
            <a:r>
              <a:rPr lang="ko-KR" altLang="en-US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b="1" dirty="0" err="1" smtClean="0">
                <a:latin typeface="돋움체" panose="020B0609000101010101" pitchFamily="49" charset="-127"/>
                <a:ea typeface="돋움체" panose="020B0609000101010101" pitchFamily="49" charset="-127"/>
              </a:rPr>
              <a:t>부가정보는</a:t>
            </a:r>
            <a:r>
              <a:rPr lang="ko-KR" altLang="en-US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 약속되어 있다</a:t>
            </a:r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480059" y="2893604"/>
            <a:ext cx="536396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3) </a:t>
            </a:r>
            <a:r>
              <a:rPr lang="ko-KR" altLang="en-US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이벤트 발생시 프로시저 호출이 있어야 한다</a:t>
            </a:r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</a:p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   </a:t>
            </a:r>
            <a:r>
              <a:rPr lang="en-US" altLang="ko-KR" b="1" dirty="0" err="1" smtClean="0">
                <a:latin typeface="돋움체" panose="020B0609000101010101" pitchFamily="49" charset="-127"/>
                <a:ea typeface="돋움체" panose="020B0609000101010101" pitchFamily="49" charset="-127"/>
              </a:rPr>
              <a:t>SendMessage</a:t>
            </a:r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(…) : </a:t>
            </a:r>
            <a:r>
              <a:rPr lang="ko-KR" altLang="en-US" b="1" dirty="0" err="1" smtClean="0">
                <a:latin typeface="돋움체" panose="020B0609000101010101" pitchFamily="49" charset="-127"/>
                <a:ea typeface="돋움체" panose="020B0609000101010101" pitchFamily="49" charset="-127"/>
              </a:rPr>
              <a:t>비큐</a:t>
            </a:r>
            <a:r>
              <a:rPr lang="ko-KR" altLang="en-US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 메시지</a:t>
            </a:r>
            <a:endParaRPr lang="en-US" altLang="ko-KR" b="1" dirty="0" smtClean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b="1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  </a:t>
            </a:r>
            <a:r>
              <a:rPr lang="en-US" altLang="ko-KR" b="1" dirty="0" err="1" smtClean="0">
                <a:latin typeface="돋움체" panose="020B0609000101010101" pitchFamily="49" charset="-127"/>
                <a:ea typeface="돋움체" panose="020B0609000101010101" pitchFamily="49" charset="-127"/>
              </a:rPr>
              <a:t>PostMessage</a:t>
            </a:r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(…) : </a:t>
            </a:r>
            <a:r>
              <a:rPr lang="ko-KR" altLang="en-US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큐   메시지 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73498" y="830455"/>
            <a:ext cx="5909188" cy="17953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/>
          <p:cNvSpPr/>
          <p:nvPr/>
        </p:nvSpPr>
        <p:spPr>
          <a:xfrm>
            <a:off x="272371" y="2875275"/>
            <a:ext cx="5909188" cy="10423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076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8675" y="142042"/>
            <a:ext cx="1179842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사용자 정의 메시지를 활용한 </a:t>
            </a:r>
            <a:r>
              <a:rPr lang="en-US" altLang="ko-KR" b="1" dirty="0" smtClean="0"/>
              <a:t>IPC </a:t>
            </a:r>
            <a:r>
              <a:rPr lang="ko-KR" altLang="en-US" b="1" dirty="0" smtClean="0"/>
              <a:t>통신</a:t>
            </a:r>
            <a:r>
              <a:rPr lang="en-US" altLang="ko-KR" b="1" dirty="0" smtClean="0"/>
              <a:t>(p45)</a:t>
            </a:r>
            <a:endParaRPr lang="ko-KR" altLang="en-US" b="1" dirty="0"/>
          </a:p>
        </p:txBody>
      </p:sp>
      <p:sp>
        <p:nvSpPr>
          <p:cNvPr id="9" name="직사각형 8"/>
          <p:cNvSpPr/>
          <p:nvPr/>
        </p:nvSpPr>
        <p:spPr>
          <a:xfrm>
            <a:off x="168675" y="635359"/>
            <a:ext cx="85411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IPC(Inter Process </a:t>
            </a:r>
            <a:r>
              <a:rPr lang="en-US" altLang="ko-KR" b="1" dirty="0" err="1" smtClean="0">
                <a:latin typeface="돋움체" panose="020B0609000101010101" pitchFamily="49" charset="-127"/>
                <a:ea typeface="돋움체" panose="020B0609000101010101" pitchFamily="49" charset="-127"/>
              </a:rPr>
              <a:t>Coummunication</a:t>
            </a:r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) : </a:t>
            </a:r>
            <a:r>
              <a:rPr lang="ko-KR" altLang="en-US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동일</a:t>
            </a:r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PC</a:t>
            </a:r>
            <a:r>
              <a:rPr lang="ko-KR" altLang="en-US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에서 서로 다른 프로세스 간 통신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7366132" y="2273417"/>
            <a:ext cx="3861786" cy="3322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7366132" y="2273417"/>
            <a:ext cx="3861786" cy="32897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smtClean="0"/>
              <a:t>AAA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580836" y="2492929"/>
            <a:ext cx="3672382" cy="33220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580836" y="1999612"/>
            <a:ext cx="12555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console</a:t>
            </a:r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7366132" y="1814946"/>
            <a:ext cx="12555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GUI</a:t>
            </a:r>
            <a:endParaRPr lang="ko-KR" altLang="en-US" dirty="0"/>
          </a:p>
        </p:txBody>
      </p:sp>
      <p:cxnSp>
        <p:nvCxnSpPr>
          <p:cNvPr id="16" name="직선 화살표 연결선 15"/>
          <p:cNvCxnSpPr/>
          <p:nvPr/>
        </p:nvCxnSpPr>
        <p:spPr>
          <a:xfrm flipV="1">
            <a:off x="4311941" y="4060273"/>
            <a:ext cx="2994870" cy="3355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/>
          <p:cNvSpPr/>
          <p:nvPr/>
        </p:nvSpPr>
        <p:spPr>
          <a:xfrm>
            <a:off x="775181" y="2860525"/>
            <a:ext cx="331025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AAA </a:t>
            </a:r>
            <a:r>
              <a:rPr lang="ko-KR" altLang="en-US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프로그램 핸들 획득</a:t>
            </a:r>
            <a:endParaRPr lang="en-US" altLang="ko-KR" b="1" dirty="0" smtClean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marL="342900" indent="-342900">
              <a:buAutoNum type="arabicPeriod"/>
            </a:pP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marL="342900" indent="-342900">
              <a:buAutoNum type="arabicPeriod"/>
            </a:pPr>
            <a:r>
              <a:rPr lang="ko-KR" altLang="en-US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전송 정보 입력</a:t>
            </a:r>
            <a:endParaRPr lang="en-US" altLang="ko-KR" b="1" dirty="0" smtClean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marL="342900" indent="-342900">
              <a:buAutoNum type="arabicPeriod"/>
            </a:pP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marL="342900" indent="-342900">
              <a:buAutoNum type="arabicPeriod"/>
            </a:pPr>
            <a:r>
              <a:rPr lang="ko-KR" altLang="en-US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전송</a:t>
            </a:r>
            <a:endParaRPr lang="en-US" altLang="ko-KR" b="1" dirty="0" smtClean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b="1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  3.1 </a:t>
            </a:r>
            <a:r>
              <a:rPr lang="en-US" altLang="ko-KR" b="1" dirty="0" err="1" smtClean="0">
                <a:latin typeface="돋움체" panose="020B0609000101010101" pitchFamily="49" charset="-127"/>
                <a:ea typeface="돋움체" panose="020B0609000101010101" pitchFamily="49" charset="-127"/>
              </a:rPr>
              <a:t>SendMessage</a:t>
            </a:r>
            <a:endParaRPr lang="en-US" altLang="ko-KR" b="1" dirty="0" smtClean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b="1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  3.2 </a:t>
            </a:r>
            <a:r>
              <a:rPr lang="en-US" altLang="ko-KR" b="1" dirty="0" err="1" smtClean="0">
                <a:latin typeface="돋움체" panose="020B0609000101010101" pitchFamily="49" charset="-127"/>
                <a:ea typeface="돋움체" panose="020B0609000101010101" pitchFamily="49" charset="-127"/>
              </a:rPr>
              <a:t>PostMessage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3349370" y="1454388"/>
            <a:ext cx="4206601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#define WM_MEMESSAGE	WM_USER+100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4447563" y="3630228"/>
            <a:ext cx="12218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smtClean="0">
                <a:latin typeface="돋움체" panose="020B0609000101010101" pitchFamily="49" charset="-127"/>
                <a:ea typeface="돋움체" panose="020B0609000101010101" pitchFamily="49" charset="-127"/>
              </a:rPr>
              <a:t>좌표 전달</a:t>
            </a:r>
            <a:endParaRPr lang="ko-KR" altLang="en-US" dirty="0"/>
          </a:p>
        </p:txBody>
      </p:sp>
      <p:sp>
        <p:nvSpPr>
          <p:cNvPr id="23" name="직사각형 22"/>
          <p:cNvSpPr/>
          <p:nvPr/>
        </p:nvSpPr>
        <p:spPr>
          <a:xfrm>
            <a:off x="7781588" y="3761655"/>
            <a:ext cx="28344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해당 좌표에 사각형 출력</a:t>
            </a:r>
            <a:endParaRPr lang="en-US" altLang="ko-KR" b="1" dirty="0" smtClean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(50*50)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8566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77196" y="2032986"/>
            <a:ext cx="3009530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1" dirty="0" smtClean="0"/>
              <a:t>0306</a:t>
            </a:r>
            <a:endParaRPr lang="ko-KR" altLang="en-US" sz="4800" b="1" dirty="0"/>
          </a:p>
        </p:txBody>
      </p:sp>
      <p:sp>
        <p:nvSpPr>
          <p:cNvPr id="9" name="직사각형 8"/>
          <p:cNvSpPr/>
          <p:nvPr/>
        </p:nvSpPr>
        <p:spPr>
          <a:xfrm>
            <a:off x="3728621" y="3181732"/>
            <a:ext cx="45143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smtClean="0"/>
              <a:t>도형 관리 프로그램 만들기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153972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77196" y="2032986"/>
            <a:ext cx="3009530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1" dirty="0" smtClean="0"/>
              <a:t>0306</a:t>
            </a:r>
            <a:endParaRPr lang="ko-KR" altLang="en-US" sz="4800" b="1" dirty="0"/>
          </a:p>
        </p:txBody>
      </p:sp>
      <p:sp>
        <p:nvSpPr>
          <p:cNvPr id="9" name="직사각형 8"/>
          <p:cNvSpPr/>
          <p:nvPr/>
        </p:nvSpPr>
        <p:spPr>
          <a:xfrm>
            <a:off x="3728621" y="3181732"/>
            <a:ext cx="46410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b="1" dirty="0" smtClean="0"/>
              <a:t>한 개의 도형 관리 프로그램</a:t>
            </a:r>
            <a:endParaRPr lang="ko-KR" altLang="en-US" sz="2800" b="1" dirty="0"/>
          </a:p>
        </p:txBody>
      </p:sp>
      <p:sp>
        <p:nvSpPr>
          <p:cNvPr id="5" name="직사각형 4"/>
          <p:cNvSpPr/>
          <p:nvPr/>
        </p:nvSpPr>
        <p:spPr>
          <a:xfrm>
            <a:off x="3820900" y="4105919"/>
            <a:ext cx="29306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 smtClean="0"/>
              <a:t>SHAPE </a:t>
            </a:r>
            <a:r>
              <a:rPr lang="en-US" altLang="ko-KR" sz="2800" b="1" dirty="0" err="1" smtClean="0"/>
              <a:t>g_shape</a:t>
            </a:r>
            <a:r>
              <a:rPr lang="en-US" altLang="ko-KR" sz="2800" b="1" dirty="0" smtClean="0"/>
              <a:t>;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160598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8675" y="142042"/>
            <a:ext cx="1179842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도형 관리 프로그램 만들기 </a:t>
            </a:r>
            <a:r>
              <a:rPr lang="en-US" altLang="ko-KR" b="1" dirty="0" smtClean="0"/>
              <a:t>– </a:t>
            </a:r>
            <a:r>
              <a:rPr lang="ko-KR" altLang="en-US" b="1" dirty="0" smtClean="0"/>
              <a:t>도형 저장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검색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수정</a:t>
            </a:r>
            <a:r>
              <a:rPr lang="en-US" altLang="ko-KR" b="1" dirty="0" smtClean="0"/>
              <a:t>, </a:t>
            </a:r>
            <a:r>
              <a:rPr lang="ko-KR" altLang="en-US" b="1" dirty="0" smtClean="0"/>
              <a:t>삭제</a:t>
            </a:r>
            <a:endParaRPr lang="ko-KR" altLang="en-US" b="1" dirty="0"/>
          </a:p>
        </p:txBody>
      </p:sp>
      <p:sp>
        <p:nvSpPr>
          <p:cNvPr id="9" name="직사각형 8"/>
          <p:cNvSpPr/>
          <p:nvPr/>
        </p:nvSpPr>
        <p:spPr>
          <a:xfrm>
            <a:off x="360727" y="5956076"/>
            <a:ext cx="11606372" cy="6454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0727" y="4446165"/>
            <a:ext cx="11606372" cy="12261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68675" y="5771410"/>
            <a:ext cx="75373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start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51924" y="4261499"/>
            <a:ext cx="98135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handler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68675" y="4211273"/>
            <a:ext cx="11936639" cy="257542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/>
          <p:nvPr/>
        </p:nvCxnSpPr>
        <p:spPr>
          <a:xfrm flipV="1">
            <a:off x="5715435" y="5672358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2055240" y="6060343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WinMain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712919" y="6060342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WndProc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342086" y="4605308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OnCreate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342086" y="5146468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OnDestory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60727" y="2725775"/>
            <a:ext cx="11606372" cy="12261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251924" y="2541109"/>
            <a:ext cx="98135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control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1342086" y="2884918"/>
            <a:ext cx="2005032" cy="4368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con_init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342086" y="3426078"/>
            <a:ext cx="2005032" cy="4368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con_exit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360727" y="696040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251924" y="586013"/>
            <a:ext cx="75373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print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3650610" y="694762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3541807" y="584735"/>
            <a:ext cx="75373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shape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6717951" y="694762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6609148" y="584735"/>
            <a:ext cx="63991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file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cxnSp>
        <p:nvCxnSpPr>
          <p:cNvPr id="34" name="직선 화살표 연결선 33"/>
          <p:cNvCxnSpPr/>
          <p:nvPr/>
        </p:nvCxnSpPr>
        <p:spPr>
          <a:xfrm flipV="1">
            <a:off x="5867835" y="5824758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 flipV="1">
            <a:off x="2453515" y="2422877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 flipV="1">
            <a:off x="5021945" y="2398353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flipV="1">
            <a:off x="8109093" y="2399250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순서도: 자기 디스크 6"/>
          <p:cNvSpPr/>
          <p:nvPr/>
        </p:nvSpPr>
        <p:spPr>
          <a:xfrm>
            <a:off x="10670796" y="2910441"/>
            <a:ext cx="1149292" cy="856861"/>
          </a:xfrm>
          <a:prstGeom prst="flowChartMagneticDisk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저장소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64311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8675" y="142042"/>
            <a:ext cx="1179842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한 개의 도형을 관리하는 프로그램</a:t>
            </a:r>
            <a:endParaRPr lang="ko-KR" altLang="en-US" b="1" dirty="0"/>
          </a:p>
        </p:txBody>
      </p:sp>
      <p:sp>
        <p:nvSpPr>
          <p:cNvPr id="9" name="직사각형 8"/>
          <p:cNvSpPr/>
          <p:nvPr/>
        </p:nvSpPr>
        <p:spPr>
          <a:xfrm>
            <a:off x="360727" y="5956076"/>
            <a:ext cx="11606372" cy="6454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0727" y="4446165"/>
            <a:ext cx="11606372" cy="12261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68675" y="5771410"/>
            <a:ext cx="75373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start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51924" y="4261499"/>
            <a:ext cx="98135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handler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68675" y="4211273"/>
            <a:ext cx="11936639" cy="257542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/>
          <p:nvPr/>
        </p:nvCxnSpPr>
        <p:spPr>
          <a:xfrm flipV="1">
            <a:off x="5715435" y="5672358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2055240" y="6060343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WinMain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712919" y="6060342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WndProc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342086" y="4605308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OnCreate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342086" y="5146468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OnDestory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60727" y="2725775"/>
            <a:ext cx="11606372" cy="12261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251924" y="2541109"/>
            <a:ext cx="98135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control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1342086" y="2884918"/>
            <a:ext cx="2005032" cy="4368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con_init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342086" y="3426078"/>
            <a:ext cx="2005032" cy="4368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con_exit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360727" y="696040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251924" y="586013"/>
            <a:ext cx="75373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print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3650610" y="694762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3541807" y="584735"/>
            <a:ext cx="867545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&lt;data&gt;</a:t>
            </a:r>
          </a:p>
          <a:p>
            <a:pPr algn="ctr"/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shape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6717951" y="694762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6609148" y="584735"/>
            <a:ext cx="63991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file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cxnSp>
        <p:nvCxnSpPr>
          <p:cNvPr id="34" name="직선 화살표 연결선 33"/>
          <p:cNvCxnSpPr/>
          <p:nvPr/>
        </p:nvCxnSpPr>
        <p:spPr>
          <a:xfrm flipV="1">
            <a:off x="5867835" y="5824758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 flipV="1">
            <a:off x="2453515" y="2422877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 flipV="1">
            <a:off x="5021945" y="2398353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flipV="1">
            <a:off x="8109093" y="2399250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순서도: 자기 디스크 6"/>
          <p:cNvSpPr/>
          <p:nvPr/>
        </p:nvSpPr>
        <p:spPr>
          <a:xfrm>
            <a:off x="10670796" y="2910441"/>
            <a:ext cx="1149292" cy="856861"/>
          </a:xfrm>
          <a:prstGeom prst="flowChartMagneticDisk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저장소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3993881" y="1337638"/>
            <a:ext cx="17331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타입 정의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ko-KR" altLang="en-US" dirty="0" smtClean="0">
                <a:solidFill>
                  <a:srgbClr val="FF0000"/>
                </a:solidFill>
              </a:rPr>
              <a:t>관련 함수 정의</a:t>
            </a:r>
            <a:endParaRPr lang="en-US" altLang="ko-KR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5454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8675" y="142042"/>
            <a:ext cx="1179842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한 개의 도형을 관리하는 프로그램 </a:t>
            </a:r>
            <a:r>
              <a:rPr lang="en-US" altLang="ko-KR" b="1" dirty="0" smtClean="0"/>
              <a:t>– 1) </a:t>
            </a:r>
            <a:r>
              <a:rPr lang="ko-KR" altLang="en-US" b="1" dirty="0" smtClean="0"/>
              <a:t>도형 초기화 기능</a:t>
            </a:r>
            <a:endParaRPr lang="ko-KR" altLang="en-US" b="1" dirty="0"/>
          </a:p>
        </p:txBody>
      </p:sp>
      <p:sp>
        <p:nvSpPr>
          <p:cNvPr id="9" name="직사각형 8"/>
          <p:cNvSpPr/>
          <p:nvPr/>
        </p:nvSpPr>
        <p:spPr>
          <a:xfrm>
            <a:off x="360727" y="5956076"/>
            <a:ext cx="11606372" cy="6454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0727" y="4446165"/>
            <a:ext cx="11606372" cy="12261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68675" y="5771410"/>
            <a:ext cx="75373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start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51924" y="4261499"/>
            <a:ext cx="98135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handler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68675" y="4211273"/>
            <a:ext cx="11936639" cy="257542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/>
          <p:nvPr/>
        </p:nvCxnSpPr>
        <p:spPr>
          <a:xfrm flipV="1">
            <a:off x="5715435" y="5672358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2055240" y="6060343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WinMain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712919" y="6060342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WndProc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342086" y="4605308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OnCreate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342086" y="5146468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OnDestory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60727" y="2725775"/>
            <a:ext cx="11606372" cy="12261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251924" y="2541109"/>
            <a:ext cx="98135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control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1342086" y="2884918"/>
            <a:ext cx="2005032" cy="4368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con_init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342086" y="3426078"/>
            <a:ext cx="2005032" cy="4368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con_exit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360727" y="696040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251924" y="586013"/>
            <a:ext cx="75373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print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3650610" y="694762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3541807" y="584735"/>
            <a:ext cx="867545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&lt;data&gt;</a:t>
            </a:r>
          </a:p>
          <a:p>
            <a:pPr algn="ctr"/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shape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6717951" y="694762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6609148" y="584735"/>
            <a:ext cx="63991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file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cxnSp>
        <p:nvCxnSpPr>
          <p:cNvPr id="34" name="직선 화살표 연결선 33"/>
          <p:cNvCxnSpPr/>
          <p:nvPr/>
        </p:nvCxnSpPr>
        <p:spPr>
          <a:xfrm flipV="1">
            <a:off x="5280605" y="3927555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 flipV="1">
            <a:off x="2453515" y="2422877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 flipV="1">
            <a:off x="5021945" y="2398353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flipV="1">
            <a:off x="8109093" y="2399250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순서도: 자기 디스크 6"/>
          <p:cNvSpPr/>
          <p:nvPr/>
        </p:nvSpPr>
        <p:spPr>
          <a:xfrm>
            <a:off x="10133901" y="2910441"/>
            <a:ext cx="1686187" cy="856861"/>
          </a:xfrm>
          <a:prstGeom prst="flowChartMagneticDisk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SHAPE </a:t>
            </a:r>
            <a:r>
              <a:rPr lang="en-US" altLang="ko-KR" dirty="0" err="1" smtClean="0"/>
              <a:t>g_shape</a:t>
            </a:r>
            <a:endParaRPr lang="ko-KR" altLang="en-US" dirty="0"/>
          </a:p>
        </p:txBody>
      </p:sp>
      <p:sp>
        <p:nvSpPr>
          <p:cNvPr id="3" name="타원 2"/>
          <p:cNvSpPr/>
          <p:nvPr/>
        </p:nvSpPr>
        <p:spPr>
          <a:xfrm>
            <a:off x="10249685" y="2672681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0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4299372" y="1342377"/>
            <a:ext cx="1685077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shape_SetData</a:t>
            </a:r>
            <a:endParaRPr lang="ko-KR" altLang="en-US" dirty="0"/>
          </a:p>
        </p:txBody>
      </p:sp>
      <p:sp>
        <p:nvSpPr>
          <p:cNvPr id="38" name="타원 37"/>
          <p:cNvSpPr/>
          <p:nvPr/>
        </p:nvSpPr>
        <p:spPr>
          <a:xfrm>
            <a:off x="2965509" y="4609610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cxnSp>
        <p:nvCxnSpPr>
          <p:cNvPr id="39" name="직선 화살표 연결선 38"/>
          <p:cNvCxnSpPr/>
          <p:nvPr/>
        </p:nvCxnSpPr>
        <p:spPr>
          <a:xfrm flipV="1">
            <a:off x="6020235" y="5977158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타원 39"/>
          <p:cNvSpPr/>
          <p:nvPr/>
        </p:nvSpPr>
        <p:spPr>
          <a:xfrm>
            <a:off x="3035064" y="2843951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41" name="타원 40"/>
          <p:cNvSpPr/>
          <p:nvPr/>
        </p:nvSpPr>
        <p:spPr>
          <a:xfrm>
            <a:off x="3961133" y="1535912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1072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8675" y="142042"/>
            <a:ext cx="1179842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한 개의 도형을 관리하는 프로그램 </a:t>
            </a:r>
            <a:r>
              <a:rPr lang="en-US" altLang="ko-KR" b="1" dirty="0" smtClean="0"/>
              <a:t>– 2) </a:t>
            </a:r>
            <a:r>
              <a:rPr lang="ko-KR" altLang="en-US" b="1" dirty="0" smtClean="0"/>
              <a:t>도형 화면 출력</a:t>
            </a:r>
            <a:endParaRPr lang="ko-KR" altLang="en-US" b="1" dirty="0"/>
          </a:p>
        </p:txBody>
      </p:sp>
      <p:sp>
        <p:nvSpPr>
          <p:cNvPr id="9" name="직사각형 8"/>
          <p:cNvSpPr/>
          <p:nvPr/>
        </p:nvSpPr>
        <p:spPr>
          <a:xfrm>
            <a:off x="360727" y="5956076"/>
            <a:ext cx="11606372" cy="6454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0727" y="4446165"/>
            <a:ext cx="11606372" cy="12261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68675" y="5771410"/>
            <a:ext cx="75373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start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51924" y="4261499"/>
            <a:ext cx="98135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handler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68675" y="4211273"/>
            <a:ext cx="11936639" cy="257542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/>
          <p:nvPr/>
        </p:nvCxnSpPr>
        <p:spPr>
          <a:xfrm flipV="1">
            <a:off x="5715435" y="5672358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2055240" y="6060343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WinMain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712919" y="6060342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WndProc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342086" y="4605308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OnCreate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342086" y="5146468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OnDestory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60727" y="2725775"/>
            <a:ext cx="11606372" cy="12261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251924" y="2541109"/>
            <a:ext cx="98135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control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1342086" y="2884918"/>
            <a:ext cx="2005032" cy="4368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con_init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342086" y="3426078"/>
            <a:ext cx="2005032" cy="4368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con_exit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360727" y="696040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251924" y="586013"/>
            <a:ext cx="75373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print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3650610" y="694762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3541807" y="584735"/>
            <a:ext cx="867545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&lt;data&gt;</a:t>
            </a:r>
          </a:p>
          <a:p>
            <a:pPr algn="ctr"/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shape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6717951" y="694762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6609148" y="584735"/>
            <a:ext cx="63991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file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cxnSp>
        <p:nvCxnSpPr>
          <p:cNvPr id="34" name="직선 화살표 연결선 33"/>
          <p:cNvCxnSpPr/>
          <p:nvPr/>
        </p:nvCxnSpPr>
        <p:spPr>
          <a:xfrm flipV="1">
            <a:off x="5280605" y="3927555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 flipV="1">
            <a:off x="2453515" y="2422877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 flipV="1">
            <a:off x="5021945" y="2398353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flipV="1">
            <a:off x="8109093" y="2399250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순서도: 자기 디스크 6"/>
          <p:cNvSpPr/>
          <p:nvPr/>
        </p:nvSpPr>
        <p:spPr>
          <a:xfrm>
            <a:off x="10133901" y="2910441"/>
            <a:ext cx="1686187" cy="856861"/>
          </a:xfrm>
          <a:prstGeom prst="flowChartMagneticDisk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SHAPE </a:t>
            </a:r>
            <a:r>
              <a:rPr lang="en-US" altLang="ko-KR" dirty="0" err="1" smtClean="0"/>
              <a:t>g_shape</a:t>
            </a:r>
            <a:endParaRPr lang="ko-KR" altLang="en-US" dirty="0"/>
          </a:p>
        </p:txBody>
      </p:sp>
      <p:sp>
        <p:nvSpPr>
          <p:cNvPr id="3" name="타원 2"/>
          <p:cNvSpPr/>
          <p:nvPr/>
        </p:nvSpPr>
        <p:spPr>
          <a:xfrm>
            <a:off x="10249685" y="2672681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0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4299372" y="1342377"/>
            <a:ext cx="1685077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shape_SetData</a:t>
            </a:r>
            <a:endParaRPr lang="ko-KR" altLang="en-US" dirty="0"/>
          </a:p>
        </p:txBody>
      </p:sp>
      <p:cxnSp>
        <p:nvCxnSpPr>
          <p:cNvPr id="39" name="직선 화살표 연결선 38"/>
          <p:cNvCxnSpPr/>
          <p:nvPr/>
        </p:nvCxnSpPr>
        <p:spPr>
          <a:xfrm flipV="1">
            <a:off x="6020235" y="5977158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3902126" y="4605308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OnPaint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5556611" y="4552950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44" name="직사각형 43"/>
          <p:cNvSpPr/>
          <p:nvPr/>
        </p:nvSpPr>
        <p:spPr>
          <a:xfrm>
            <a:off x="3902126" y="2901978"/>
            <a:ext cx="2005032" cy="4368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con_Print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5572653" y="2921069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46" name="직사각형 45"/>
          <p:cNvSpPr/>
          <p:nvPr/>
        </p:nvSpPr>
        <p:spPr>
          <a:xfrm>
            <a:off x="518742" y="1140011"/>
            <a:ext cx="2005032" cy="4368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print_ShapePrint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7" name="타원 46"/>
          <p:cNvSpPr/>
          <p:nvPr/>
        </p:nvSpPr>
        <p:spPr>
          <a:xfrm>
            <a:off x="2277126" y="929134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31294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8675" y="142042"/>
            <a:ext cx="1179842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한 개의 도형을 관리하는 프로그램 </a:t>
            </a:r>
            <a:r>
              <a:rPr lang="en-US" altLang="ko-KR" b="1" dirty="0" smtClean="0"/>
              <a:t>– 3) </a:t>
            </a:r>
            <a:r>
              <a:rPr lang="ko-KR" altLang="en-US" b="1" dirty="0" smtClean="0"/>
              <a:t>도형의 위치 이동</a:t>
            </a:r>
            <a:endParaRPr lang="ko-KR" altLang="en-US" b="1" dirty="0"/>
          </a:p>
        </p:txBody>
      </p:sp>
      <p:sp>
        <p:nvSpPr>
          <p:cNvPr id="9" name="직사각형 8"/>
          <p:cNvSpPr/>
          <p:nvPr/>
        </p:nvSpPr>
        <p:spPr>
          <a:xfrm>
            <a:off x="360727" y="5956076"/>
            <a:ext cx="11606372" cy="6454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0727" y="4446165"/>
            <a:ext cx="11606372" cy="12261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68675" y="5771410"/>
            <a:ext cx="75373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start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51924" y="4261499"/>
            <a:ext cx="98135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handler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68675" y="4211273"/>
            <a:ext cx="11936639" cy="257542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/>
          <p:nvPr/>
        </p:nvCxnSpPr>
        <p:spPr>
          <a:xfrm flipV="1">
            <a:off x="5715435" y="5672358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2055240" y="6060343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WinMain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712919" y="6060342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WndProc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342086" y="4605308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OnCreate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342086" y="5146468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OnDestory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60727" y="2725775"/>
            <a:ext cx="11606372" cy="12261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251924" y="2541109"/>
            <a:ext cx="98135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control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1342086" y="2884918"/>
            <a:ext cx="2005032" cy="4368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con_init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342086" y="3426078"/>
            <a:ext cx="2005032" cy="4368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con_exit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360727" y="696040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251924" y="586013"/>
            <a:ext cx="75373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print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3650610" y="694762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3541807" y="584735"/>
            <a:ext cx="867545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&lt;data&gt;</a:t>
            </a:r>
          </a:p>
          <a:p>
            <a:pPr algn="ctr"/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shape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6717951" y="694762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6609148" y="584735"/>
            <a:ext cx="63991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file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cxnSp>
        <p:nvCxnSpPr>
          <p:cNvPr id="34" name="직선 화살표 연결선 33"/>
          <p:cNvCxnSpPr/>
          <p:nvPr/>
        </p:nvCxnSpPr>
        <p:spPr>
          <a:xfrm flipV="1">
            <a:off x="5280605" y="3927555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 flipV="1">
            <a:off x="2453515" y="2422877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 flipV="1">
            <a:off x="5021945" y="2398353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flipV="1">
            <a:off x="8109093" y="2399250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순서도: 자기 디스크 6"/>
          <p:cNvSpPr/>
          <p:nvPr/>
        </p:nvSpPr>
        <p:spPr>
          <a:xfrm>
            <a:off x="10133901" y="2910441"/>
            <a:ext cx="1686187" cy="856861"/>
          </a:xfrm>
          <a:prstGeom prst="flowChartMagneticDisk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SHAPE </a:t>
            </a:r>
            <a:r>
              <a:rPr lang="en-US" altLang="ko-KR" dirty="0" err="1" smtClean="0"/>
              <a:t>g_shape</a:t>
            </a:r>
            <a:endParaRPr lang="ko-KR" altLang="en-US" dirty="0"/>
          </a:p>
        </p:txBody>
      </p:sp>
      <p:sp>
        <p:nvSpPr>
          <p:cNvPr id="3" name="타원 2"/>
          <p:cNvSpPr/>
          <p:nvPr/>
        </p:nvSpPr>
        <p:spPr>
          <a:xfrm>
            <a:off x="10249685" y="2672681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0</a:t>
            </a:r>
            <a:endParaRPr lang="ko-KR" altLang="en-US" dirty="0"/>
          </a:p>
        </p:txBody>
      </p:sp>
      <p:cxnSp>
        <p:nvCxnSpPr>
          <p:cNvPr id="39" name="직선 화살표 연결선 38"/>
          <p:cNvCxnSpPr/>
          <p:nvPr/>
        </p:nvCxnSpPr>
        <p:spPr>
          <a:xfrm flipV="1">
            <a:off x="6020235" y="5977158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4278089" y="4622368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OnLButtonDown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3650610" y="2868947"/>
            <a:ext cx="3048330" cy="4368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con_UpdateShapePoint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3" name="타원 42"/>
          <p:cNvSpPr/>
          <p:nvPr/>
        </p:nvSpPr>
        <p:spPr>
          <a:xfrm>
            <a:off x="6181310" y="4570010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45" name="타원 44"/>
          <p:cNvSpPr/>
          <p:nvPr/>
        </p:nvSpPr>
        <p:spPr>
          <a:xfrm>
            <a:off x="6558527" y="2817830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4095353" y="1354902"/>
            <a:ext cx="1800493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dirty="0" err="1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shape_SetPoint</a:t>
            </a:r>
            <a:endParaRPr lang="ko-KR" altLang="en-US" dirty="0"/>
          </a:p>
        </p:txBody>
      </p:sp>
      <p:sp>
        <p:nvSpPr>
          <p:cNvPr id="47" name="타원 46"/>
          <p:cNvSpPr/>
          <p:nvPr/>
        </p:nvSpPr>
        <p:spPr>
          <a:xfrm>
            <a:off x="5766242" y="1110097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6998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8675" y="142042"/>
            <a:ext cx="1179842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한 개의 도형을 관리하는 프로그램 </a:t>
            </a:r>
            <a:r>
              <a:rPr lang="en-US" altLang="ko-KR" b="1" dirty="0" smtClean="0"/>
              <a:t>– 3) </a:t>
            </a:r>
            <a:r>
              <a:rPr lang="ko-KR" altLang="en-US" b="1" dirty="0" smtClean="0"/>
              <a:t>도형의 </a:t>
            </a:r>
            <a:r>
              <a:rPr lang="ko-KR" altLang="en-US" b="1" dirty="0" smtClean="0"/>
              <a:t>크기 변경</a:t>
            </a:r>
            <a:r>
              <a:rPr lang="en-US" altLang="ko-KR" b="1" dirty="0" smtClean="0"/>
              <a:t>( </a:t>
            </a:r>
            <a:r>
              <a:rPr lang="ko-KR" altLang="en-US" b="1" dirty="0" smtClean="0"/>
              <a:t>방향키 위아래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  <p:sp>
        <p:nvSpPr>
          <p:cNvPr id="9" name="직사각형 8"/>
          <p:cNvSpPr/>
          <p:nvPr/>
        </p:nvSpPr>
        <p:spPr>
          <a:xfrm>
            <a:off x="360727" y="5956076"/>
            <a:ext cx="11606372" cy="6454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0727" y="4446165"/>
            <a:ext cx="11606372" cy="12261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68675" y="5771410"/>
            <a:ext cx="75373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start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51924" y="4261499"/>
            <a:ext cx="98135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handler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68675" y="4211273"/>
            <a:ext cx="11936639" cy="257542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/>
          <p:nvPr/>
        </p:nvCxnSpPr>
        <p:spPr>
          <a:xfrm flipV="1">
            <a:off x="5715435" y="5672358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2055240" y="6060343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WinMain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712919" y="6060342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WndProc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342086" y="4605308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OnCreate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342086" y="5146468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OnDestory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60727" y="2725775"/>
            <a:ext cx="11606372" cy="12261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251924" y="2541109"/>
            <a:ext cx="98135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control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1342086" y="2884918"/>
            <a:ext cx="2005032" cy="4368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con_init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342086" y="3426078"/>
            <a:ext cx="2005032" cy="4368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con_exit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360727" y="696040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251924" y="586013"/>
            <a:ext cx="75373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print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3650610" y="694762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3541807" y="584735"/>
            <a:ext cx="867545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&lt;data&gt;</a:t>
            </a:r>
          </a:p>
          <a:p>
            <a:pPr algn="ctr"/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shape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6717951" y="694762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6609148" y="584735"/>
            <a:ext cx="63991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file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cxnSp>
        <p:nvCxnSpPr>
          <p:cNvPr id="34" name="직선 화살표 연결선 33"/>
          <p:cNvCxnSpPr/>
          <p:nvPr/>
        </p:nvCxnSpPr>
        <p:spPr>
          <a:xfrm flipV="1">
            <a:off x="5280605" y="3927555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 flipV="1">
            <a:off x="2453515" y="2422877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 flipV="1">
            <a:off x="5021945" y="2398353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flipV="1">
            <a:off x="8109093" y="2399250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순서도: 자기 디스크 6"/>
          <p:cNvSpPr/>
          <p:nvPr/>
        </p:nvSpPr>
        <p:spPr>
          <a:xfrm>
            <a:off x="10133901" y="2910441"/>
            <a:ext cx="1686187" cy="856861"/>
          </a:xfrm>
          <a:prstGeom prst="flowChartMagneticDisk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SHAPE </a:t>
            </a:r>
            <a:r>
              <a:rPr lang="en-US" altLang="ko-KR" dirty="0" err="1" smtClean="0"/>
              <a:t>g_shape</a:t>
            </a:r>
            <a:endParaRPr lang="ko-KR" altLang="en-US" dirty="0"/>
          </a:p>
        </p:txBody>
      </p:sp>
      <p:sp>
        <p:nvSpPr>
          <p:cNvPr id="3" name="타원 2"/>
          <p:cNvSpPr/>
          <p:nvPr/>
        </p:nvSpPr>
        <p:spPr>
          <a:xfrm>
            <a:off x="10249685" y="2672681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0</a:t>
            </a:r>
            <a:endParaRPr lang="ko-KR" altLang="en-US" dirty="0"/>
          </a:p>
        </p:txBody>
      </p:sp>
      <p:cxnSp>
        <p:nvCxnSpPr>
          <p:cNvPr id="39" name="직선 화살표 연결선 38"/>
          <p:cNvCxnSpPr/>
          <p:nvPr/>
        </p:nvCxnSpPr>
        <p:spPr>
          <a:xfrm flipV="1">
            <a:off x="6020235" y="5977158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4328477" y="4659128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OnKeyDown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6136994" y="4683016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44" name="직사각형 43"/>
          <p:cNvSpPr/>
          <p:nvPr/>
        </p:nvSpPr>
        <p:spPr>
          <a:xfrm>
            <a:off x="3650610" y="2868947"/>
            <a:ext cx="3048330" cy="4368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con_UpdateShapeSize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6558527" y="2817830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48" name="직사각형 47"/>
          <p:cNvSpPr/>
          <p:nvPr/>
        </p:nvSpPr>
        <p:spPr>
          <a:xfrm>
            <a:off x="4095353" y="1354902"/>
            <a:ext cx="1685077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dirty="0" err="1" smtClean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shape_SetSize</a:t>
            </a:r>
            <a:endParaRPr lang="ko-KR" altLang="en-US" dirty="0"/>
          </a:p>
        </p:txBody>
      </p:sp>
      <p:sp>
        <p:nvSpPr>
          <p:cNvPr id="49" name="타원 48"/>
          <p:cNvSpPr/>
          <p:nvPr/>
        </p:nvSpPr>
        <p:spPr>
          <a:xfrm>
            <a:off x="5630688" y="1100062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29209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8675" y="142042"/>
            <a:ext cx="1179842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한 개의 도형을 관리하는 프로그램 </a:t>
            </a:r>
            <a:r>
              <a:rPr lang="en-US" altLang="ko-KR" b="1" dirty="0" smtClean="0"/>
              <a:t>– 3) </a:t>
            </a:r>
            <a:r>
              <a:rPr lang="ko-KR" altLang="en-US" b="1" dirty="0" smtClean="0"/>
              <a:t>도형의 </a:t>
            </a:r>
            <a:r>
              <a:rPr lang="ko-KR" altLang="en-US" b="1" dirty="0" smtClean="0"/>
              <a:t>타입 변경</a:t>
            </a:r>
            <a:r>
              <a:rPr lang="en-US" altLang="ko-KR" b="1" dirty="0" smtClean="0"/>
              <a:t>( </a:t>
            </a:r>
            <a:r>
              <a:rPr lang="ko-KR" altLang="en-US" b="1" dirty="0" smtClean="0"/>
              <a:t>키보드 </a:t>
            </a:r>
            <a:r>
              <a:rPr lang="en-US" altLang="ko-KR" b="1" dirty="0" smtClean="0"/>
              <a:t>1, 2)</a:t>
            </a:r>
            <a:endParaRPr lang="ko-KR" altLang="en-US" b="1" dirty="0"/>
          </a:p>
        </p:txBody>
      </p:sp>
      <p:sp>
        <p:nvSpPr>
          <p:cNvPr id="9" name="직사각형 8"/>
          <p:cNvSpPr/>
          <p:nvPr/>
        </p:nvSpPr>
        <p:spPr>
          <a:xfrm>
            <a:off x="360727" y="5956076"/>
            <a:ext cx="11606372" cy="6454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0727" y="4446165"/>
            <a:ext cx="11606372" cy="12261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68675" y="5771410"/>
            <a:ext cx="75373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start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51924" y="4261499"/>
            <a:ext cx="98135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handler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68675" y="4211273"/>
            <a:ext cx="11936639" cy="257542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/>
          <p:nvPr/>
        </p:nvCxnSpPr>
        <p:spPr>
          <a:xfrm flipV="1">
            <a:off x="5715435" y="5672358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2055240" y="6060343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WinMain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712919" y="6060342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WndProc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342086" y="4605308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OnCreate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342086" y="5146468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OnDestory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60727" y="2725775"/>
            <a:ext cx="11606372" cy="12261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251924" y="2541109"/>
            <a:ext cx="98135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control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1342086" y="2884918"/>
            <a:ext cx="2005032" cy="4368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con_init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342086" y="3426078"/>
            <a:ext cx="2005032" cy="4368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con_exit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360727" y="696040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251924" y="586013"/>
            <a:ext cx="75373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print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3650610" y="694762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3541807" y="584735"/>
            <a:ext cx="867545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&lt;data&gt;</a:t>
            </a:r>
          </a:p>
          <a:p>
            <a:pPr algn="ctr"/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shape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6717951" y="694762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6609148" y="584735"/>
            <a:ext cx="63991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file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cxnSp>
        <p:nvCxnSpPr>
          <p:cNvPr id="34" name="직선 화살표 연결선 33"/>
          <p:cNvCxnSpPr/>
          <p:nvPr/>
        </p:nvCxnSpPr>
        <p:spPr>
          <a:xfrm flipV="1">
            <a:off x="5280605" y="3927555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 flipV="1">
            <a:off x="2453515" y="2422877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 flipV="1">
            <a:off x="5021945" y="2398353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flipV="1">
            <a:off x="8109093" y="2399250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순서도: 자기 디스크 6"/>
          <p:cNvSpPr/>
          <p:nvPr/>
        </p:nvSpPr>
        <p:spPr>
          <a:xfrm>
            <a:off x="10133901" y="2910441"/>
            <a:ext cx="1686187" cy="856861"/>
          </a:xfrm>
          <a:prstGeom prst="flowChartMagneticDisk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SHAPE </a:t>
            </a:r>
            <a:r>
              <a:rPr lang="en-US" altLang="ko-KR" dirty="0" err="1" smtClean="0"/>
              <a:t>g_shape</a:t>
            </a:r>
            <a:endParaRPr lang="ko-KR" altLang="en-US" dirty="0"/>
          </a:p>
        </p:txBody>
      </p:sp>
      <p:sp>
        <p:nvSpPr>
          <p:cNvPr id="3" name="타원 2"/>
          <p:cNvSpPr/>
          <p:nvPr/>
        </p:nvSpPr>
        <p:spPr>
          <a:xfrm>
            <a:off x="10249685" y="2672681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0</a:t>
            </a:r>
            <a:endParaRPr lang="ko-KR" altLang="en-US" dirty="0"/>
          </a:p>
        </p:txBody>
      </p:sp>
      <p:cxnSp>
        <p:nvCxnSpPr>
          <p:cNvPr id="39" name="직선 화살표 연결선 38"/>
          <p:cNvCxnSpPr/>
          <p:nvPr/>
        </p:nvCxnSpPr>
        <p:spPr>
          <a:xfrm flipV="1">
            <a:off x="6020235" y="5977158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4328477" y="4659128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OnKeyDown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6136994" y="4683016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44" name="직사각형 43"/>
          <p:cNvSpPr/>
          <p:nvPr/>
        </p:nvSpPr>
        <p:spPr>
          <a:xfrm>
            <a:off x="3650610" y="2868947"/>
            <a:ext cx="3048330" cy="4368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con_UpdateShapeType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6558527" y="2817830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48" name="직사각형 47"/>
          <p:cNvSpPr/>
          <p:nvPr/>
        </p:nvSpPr>
        <p:spPr>
          <a:xfrm>
            <a:off x="4095353" y="1354902"/>
            <a:ext cx="1685077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dirty="0" err="1" smtClean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shape_SetType</a:t>
            </a:r>
            <a:endParaRPr lang="ko-KR" altLang="en-US" dirty="0"/>
          </a:p>
        </p:txBody>
      </p:sp>
      <p:sp>
        <p:nvSpPr>
          <p:cNvPr id="49" name="타원 48"/>
          <p:cNvSpPr/>
          <p:nvPr/>
        </p:nvSpPr>
        <p:spPr>
          <a:xfrm>
            <a:off x="5630688" y="1100062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03100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8675" y="142042"/>
            <a:ext cx="1179842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한 개의 도형을 관리하는 프로그램 </a:t>
            </a:r>
            <a:r>
              <a:rPr lang="en-US" altLang="ko-KR" b="1" dirty="0" smtClean="0"/>
              <a:t>– 3) </a:t>
            </a:r>
            <a:r>
              <a:rPr lang="ko-KR" altLang="en-US" b="1" dirty="0" smtClean="0"/>
              <a:t>도형의 </a:t>
            </a:r>
            <a:r>
              <a:rPr lang="ko-KR" altLang="en-US" b="1" dirty="0" err="1" smtClean="0"/>
              <a:t>브러쉬</a:t>
            </a:r>
            <a:r>
              <a:rPr lang="ko-KR" altLang="en-US" b="1" dirty="0" smtClean="0"/>
              <a:t> 색상 변경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키보드 </a:t>
            </a:r>
            <a:r>
              <a:rPr lang="en-US" altLang="ko-KR" b="1" dirty="0" smtClean="0"/>
              <a:t>R, G, B)</a:t>
            </a:r>
            <a:endParaRPr lang="ko-KR" altLang="en-US" b="1" dirty="0"/>
          </a:p>
        </p:txBody>
      </p:sp>
      <p:sp>
        <p:nvSpPr>
          <p:cNvPr id="9" name="직사각형 8"/>
          <p:cNvSpPr/>
          <p:nvPr/>
        </p:nvSpPr>
        <p:spPr>
          <a:xfrm>
            <a:off x="360727" y="5956076"/>
            <a:ext cx="11606372" cy="6454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0727" y="4446165"/>
            <a:ext cx="11606372" cy="12261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68675" y="5771410"/>
            <a:ext cx="75373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start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51924" y="4261499"/>
            <a:ext cx="98135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handler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68675" y="4211273"/>
            <a:ext cx="11936639" cy="257542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/>
          <p:nvPr/>
        </p:nvCxnSpPr>
        <p:spPr>
          <a:xfrm flipV="1">
            <a:off x="5715435" y="5672358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2055240" y="6060343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WinMain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712919" y="6060342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WndProc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342086" y="4605308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OnCreate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342086" y="5146468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OnDestory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60727" y="2725775"/>
            <a:ext cx="11606372" cy="12261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251924" y="2541109"/>
            <a:ext cx="98135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control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1342086" y="2884918"/>
            <a:ext cx="2005032" cy="4368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con_init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342086" y="3426078"/>
            <a:ext cx="2005032" cy="4368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con_exit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360727" y="696040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251924" y="586013"/>
            <a:ext cx="75373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print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3650610" y="694762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3541807" y="584735"/>
            <a:ext cx="867545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&lt;data&gt;</a:t>
            </a:r>
          </a:p>
          <a:p>
            <a:pPr algn="ctr"/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shape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6717951" y="694762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6609148" y="584735"/>
            <a:ext cx="63991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file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cxnSp>
        <p:nvCxnSpPr>
          <p:cNvPr id="34" name="직선 화살표 연결선 33"/>
          <p:cNvCxnSpPr/>
          <p:nvPr/>
        </p:nvCxnSpPr>
        <p:spPr>
          <a:xfrm flipV="1">
            <a:off x="5280605" y="3927555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 flipV="1">
            <a:off x="2453515" y="2422877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 flipV="1">
            <a:off x="5021945" y="2398353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flipV="1">
            <a:off x="8109093" y="2399250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순서도: 자기 디스크 6"/>
          <p:cNvSpPr/>
          <p:nvPr/>
        </p:nvSpPr>
        <p:spPr>
          <a:xfrm>
            <a:off x="10133901" y="2910441"/>
            <a:ext cx="1686187" cy="856861"/>
          </a:xfrm>
          <a:prstGeom prst="flowChartMagneticDisk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SHAPE </a:t>
            </a:r>
            <a:r>
              <a:rPr lang="en-US" altLang="ko-KR" dirty="0" err="1" smtClean="0"/>
              <a:t>g_shape</a:t>
            </a:r>
            <a:endParaRPr lang="ko-KR" altLang="en-US" dirty="0"/>
          </a:p>
        </p:txBody>
      </p:sp>
      <p:sp>
        <p:nvSpPr>
          <p:cNvPr id="3" name="타원 2"/>
          <p:cNvSpPr/>
          <p:nvPr/>
        </p:nvSpPr>
        <p:spPr>
          <a:xfrm>
            <a:off x="10249685" y="2672681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0</a:t>
            </a:r>
            <a:endParaRPr lang="ko-KR" altLang="en-US" dirty="0"/>
          </a:p>
        </p:txBody>
      </p:sp>
      <p:sp>
        <p:nvSpPr>
          <p:cNvPr id="41" name="직사각형 40"/>
          <p:cNvSpPr/>
          <p:nvPr/>
        </p:nvSpPr>
        <p:spPr>
          <a:xfrm>
            <a:off x="4328477" y="4659128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OnKeyDown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6136994" y="4683016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44" name="직사각형 43"/>
          <p:cNvSpPr/>
          <p:nvPr/>
        </p:nvSpPr>
        <p:spPr>
          <a:xfrm>
            <a:off x="3650610" y="3103364"/>
            <a:ext cx="3446476" cy="4368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con_UpdateShapeBrushColor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6558527" y="2817830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48" name="직사각형 47"/>
          <p:cNvSpPr/>
          <p:nvPr/>
        </p:nvSpPr>
        <p:spPr>
          <a:xfrm>
            <a:off x="4095353" y="1354902"/>
            <a:ext cx="2377574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dirty="0" err="1" smtClean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shape_SetBrushColor</a:t>
            </a:r>
            <a:endParaRPr lang="ko-KR" altLang="en-US" dirty="0"/>
          </a:p>
        </p:txBody>
      </p:sp>
      <p:sp>
        <p:nvSpPr>
          <p:cNvPr id="49" name="타원 48"/>
          <p:cNvSpPr/>
          <p:nvPr/>
        </p:nvSpPr>
        <p:spPr>
          <a:xfrm>
            <a:off x="5897473" y="1037554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7730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77196" y="2032986"/>
            <a:ext cx="3009530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1" dirty="0" smtClean="0"/>
              <a:t>0306</a:t>
            </a:r>
            <a:endParaRPr lang="ko-KR" altLang="en-US" sz="4800" b="1" dirty="0"/>
          </a:p>
        </p:txBody>
      </p:sp>
      <p:sp>
        <p:nvSpPr>
          <p:cNvPr id="9" name="직사각형 8"/>
          <p:cNvSpPr/>
          <p:nvPr/>
        </p:nvSpPr>
        <p:spPr>
          <a:xfrm>
            <a:off x="2187049" y="3282400"/>
            <a:ext cx="44422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 smtClean="0"/>
              <a:t>N</a:t>
            </a:r>
            <a:r>
              <a:rPr lang="ko-KR" altLang="en-US" sz="2800" b="1" dirty="0" smtClean="0"/>
              <a:t>개의 도형 관리 프로그램</a:t>
            </a:r>
            <a:endParaRPr lang="ko-KR" altLang="en-US" sz="2800" b="1" dirty="0"/>
          </a:p>
        </p:txBody>
      </p:sp>
      <p:sp>
        <p:nvSpPr>
          <p:cNvPr id="5" name="직사각형 4"/>
          <p:cNvSpPr/>
          <p:nvPr/>
        </p:nvSpPr>
        <p:spPr>
          <a:xfrm>
            <a:off x="7210053" y="256044"/>
            <a:ext cx="4577856" cy="31085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800" b="1" dirty="0" smtClean="0"/>
              <a:t>SHAPE </a:t>
            </a:r>
            <a:r>
              <a:rPr lang="en-US" altLang="ko-KR" sz="2800" b="1" dirty="0" err="1" smtClean="0"/>
              <a:t>g_shape</a:t>
            </a:r>
            <a:r>
              <a:rPr lang="en-US" altLang="ko-KR" sz="2800" b="1" dirty="0" smtClean="0"/>
              <a:t>[10];</a:t>
            </a:r>
          </a:p>
          <a:p>
            <a:endParaRPr lang="en-US" altLang="ko-KR" sz="2800" b="1" dirty="0" smtClean="0"/>
          </a:p>
          <a:p>
            <a:r>
              <a:rPr lang="en-US" altLang="ko-KR" sz="2800" b="1" dirty="0" smtClean="0"/>
              <a:t>//</a:t>
            </a:r>
            <a:r>
              <a:rPr lang="ko-KR" altLang="en-US" sz="2800" b="1" dirty="0" smtClean="0"/>
              <a:t>도형들 관리</a:t>
            </a:r>
            <a:endParaRPr lang="en-US" altLang="ko-KR" sz="2800" b="1" dirty="0"/>
          </a:p>
          <a:p>
            <a:r>
              <a:rPr lang="en-US" altLang="ko-KR" sz="2800" b="1" dirty="0" smtClean="0">
                <a:solidFill>
                  <a:srgbClr val="FF0000"/>
                </a:solidFill>
              </a:rPr>
              <a:t>vector&lt;SHAPE&gt; </a:t>
            </a:r>
            <a:r>
              <a:rPr lang="en-US" altLang="ko-KR" sz="2800" b="1" dirty="0" err="1" smtClean="0">
                <a:solidFill>
                  <a:srgbClr val="FF0000"/>
                </a:solidFill>
              </a:rPr>
              <a:t>g_shapes</a:t>
            </a:r>
            <a:endParaRPr lang="en-US" altLang="ko-KR" sz="2800" b="1" dirty="0" smtClean="0">
              <a:solidFill>
                <a:srgbClr val="FF0000"/>
              </a:solidFill>
            </a:endParaRPr>
          </a:p>
          <a:p>
            <a:endParaRPr lang="en-US" altLang="ko-KR" sz="2800" b="1" dirty="0">
              <a:solidFill>
                <a:srgbClr val="FF0000"/>
              </a:solidFill>
            </a:endParaRPr>
          </a:p>
          <a:p>
            <a:r>
              <a:rPr lang="en-US" altLang="ko-KR" sz="2800" b="1" dirty="0" smtClean="0"/>
              <a:t>//</a:t>
            </a:r>
            <a:r>
              <a:rPr lang="ko-KR" altLang="en-US" sz="2800" b="1" dirty="0" err="1" smtClean="0"/>
              <a:t>설정정보</a:t>
            </a:r>
            <a:r>
              <a:rPr lang="ko-KR" altLang="en-US" sz="2800" b="1" dirty="0" smtClean="0"/>
              <a:t> 관리</a:t>
            </a:r>
            <a:endParaRPr lang="en-US" altLang="ko-KR" sz="2800" b="1" dirty="0" smtClean="0"/>
          </a:p>
          <a:p>
            <a:r>
              <a:rPr lang="en-US" altLang="ko-KR" sz="2800" b="1" dirty="0" smtClean="0">
                <a:solidFill>
                  <a:srgbClr val="FF0000"/>
                </a:solidFill>
              </a:rPr>
              <a:t>SHAPE </a:t>
            </a:r>
            <a:r>
              <a:rPr lang="en-US" altLang="ko-KR" sz="2800" b="1" dirty="0" err="1" smtClean="0">
                <a:solidFill>
                  <a:srgbClr val="FF0000"/>
                </a:solidFill>
              </a:rPr>
              <a:t>g_curshape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1287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8675" y="142042"/>
            <a:ext cx="1179842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b="1" dirty="0" smtClean="0"/>
              <a:t>한 개의 도형을 관리하는 프로그램 </a:t>
            </a:r>
            <a:r>
              <a:rPr lang="en-US" altLang="ko-KR" b="1" dirty="0" smtClean="0"/>
              <a:t>– 3) </a:t>
            </a:r>
            <a:r>
              <a:rPr lang="ko-KR" altLang="en-US" b="1" dirty="0" smtClean="0"/>
              <a:t>도형의 </a:t>
            </a:r>
            <a:r>
              <a:rPr lang="ko-KR" altLang="en-US" b="1" dirty="0" err="1" smtClean="0"/>
              <a:t>브러쉬</a:t>
            </a:r>
            <a:r>
              <a:rPr lang="ko-KR" altLang="en-US" b="1" dirty="0" smtClean="0"/>
              <a:t> 색상 변경</a:t>
            </a:r>
            <a:r>
              <a:rPr lang="en-US" altLang="ko-KR" b="1" dirty="0" smtClean="0"/>
              <a:t>(</a:t>
            </a:r>
            <a:r>
              <a:rPr lang="ko-KR" altLang="en-US" b="1" dirty="0" smtClean="0"/>
              <a:t>키보드 </a:t>
            </a:r>
            <a:r>
              <a:rPr lang="en-US" altLang="ko-KR" b="1" dirty="0" smtClean="0"/>
              <a:t>R, G, B)</a:t>
            </a:r>
            <a:endParaRPr lang="ko-KR" altLang="en-US" b="1" dirty="0"/>
          </a:p>
        </p:txBody>
      </p:sp>
      <p:sp>
        <p:nvSpPr>
          <p:cNvPr id="9" name="직사각형 8"/>
          <p:cNvSpPr/>
          <p:nvPr/>
        </p:nvSpPr>
        <p:spPr>
          <a:xfrm>
            <a:off x="360727" y="5956076"/>
            <a:ext cx="11606372" cy="64542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60727" y="4446165"/>
            <a:ext cx="11606372" cy="12261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168675" y="5771410"/>
            <a:ext cx="75373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start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51924" y="4261499"/>
            <a:ext cx="98135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handler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68675" y="4211273"/>
            <a:ext cx="11936639" cy="257542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/>
          <p:cNvCxnSpPr/>
          <p:nvPr/>
        </p:nvCxnSpPr>
        <p:spPr>
          <a:xfrm flipV="1">
            <a:off x="5715435" y="5672358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2055240" y="6060343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WinMain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4712919" y="6060342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WndProc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342086" y="4605308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OnCreate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342086" y="5146468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OnDestory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60727" y="2725775"/>
            <a:ext cx="11606372" cy="122619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251924" y="2541109"/>
            <a:ext cx="98135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control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1342086" y="2884918"/>
            <a:ext cx="2005032" cy="4368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con_init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342086" y="3426078"/>
            <a:ext cx="2005032" cy="4368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con_exit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360727" y="696040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251924" y="586013"/>
            <a:ext cx="753732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print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3650610" y="694762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/>
          <p:cNvSpPr/>
          <p:nvPr/>
        </p:nvSpPr>
        <p:spPr>
          <a:xfrm>
            <a:off x="3541807" y="584735"/>
            <a:ext cx="867545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&lt;data&gt;</a:t>
            </a:r>
          </a:p>
          <a:p>
            <a:pPr algn="ctr"/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shape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6717951" y="694762"/>
            <a:ext cx="2818701" cy="17281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6609148" y="584735"/>
            <a:ext cx="63991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b="1" dirty="0" smtClean="0">
                <a:latin typeface="돋움체" panose="020B0609000101010101" pitchFamily="49" charset="-127"/>
                <a:ea typeface="돋움체" panose="020B0609000101010101" pitchFamily="49" charset="-127"/>
              </a:rPr>
              <a:t>file</a:t>
            </a:r>
            <a:endParaRPr lang="en-US" altLang="ko-KR" b="1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cxnSp>
        <p:nvCxnSpPr>
          <p:cNvPr id="34" name="직선 화살표 연결선 33"/>
          <p:cNvCxnSpPr/>
          <p:nvPr/>
        </p:nvCxnSpPr>
        <p:spPr>
          <a:xfrm flipV="1">
            <a:off x="5280605" y="3927555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/>
          <p:nvPr/>
        </p:nvCxnSpPr>
        <p:spPr>
          <a:xfrm flipV="1">
            <a:off x="2453515" y="2422877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/>
          <p:cNvCxnSpPr/>
          <p:nvPr/>
        </p:nvCxnSpPr>
        <p:spPr>
          <a:xfrm flipV="1">
            <a:off x="5021945" y="2398353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flipV="1">
            <a:off x="8109093" y="2399250"/>
            <a:ext cx="0" cy="28371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순서도: 자기 디스크 6"/>
          <p:cNvSpPr/>
          <p:nvPr/>
        </p:nvSpPr>
        <p:spPr>
          <a:xfrm>
            <a:off x="10133901" y="2910441"/>
            <a:ext cx="1686187" cy="856861"/>
          </a:xfrm>
          <a:prstGeom prst="flowChartMagneticDisk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SHAPE </a:t>
            </a:r>
            <a:r>
              <a:rPr lang="en-US" altLang="ko-KR" dirty="0" err="1" smtClean="0"/>
              <a:t>g_shape</a:t>
            </a:r>
            <a:endParaRPr lang="ko-KR" altLang="en-US" dirty="0"/>
          </a:p>
        </p:txBody>
      </p:sp>
      <p:sp>
        <p:nvSpPr>
          <p:cNvPr id="3" name="타원 2"/>
          <p:cNvSpPr/>
          <p:nvPr/>
        </p:nvSpPr>
        <p:spPr>
          <a:xfrm>
            <a:off x="10249685" y="2672681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0</a:t>
            </a:r>
            <a:endParaRPr lang="ko-KR" altLang="en-US" dirty="0"/>
          </a:p>
        </p:txBody>
      </p:sp>
      <p:sp>
        <p:nvSpPr>
          <p:cNvPr id="41" name="직사각형 40"/>
          <p:cNvSpPr/>
          <p:nvPr/>
        </p:nvSpPr>
        <p:spPr>
          <a:xfrm>
            <a:off x="4328477" y="4659128"/>
            <a:ext cx="2005032" cy="4368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OnKeyDown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6136994" y="4683016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44" name="직사각형 43"/>
          <p:cNvSpPr/>
          <p:nvPr/>
        </p:nvSpPr>
        <p:spPr>
          <a:xfrm>
            <a:off x="3650610" y="3103364"/>
            <a:ext cx="3446476" cy="4368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>
                <a:solidFill>
                  <a:schemeClr val="tx1"/>
                </a:solidFill>
              </a:rPr>
              <a:t>con_UpdateShapeBrushColor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6" name="타원 45"/>
          <p:cNvSpPr/>
          <p:nvPr/>
        </p:nvSpPr>
        <p:spPr>
          <a:xfrm>
            <a:off x="6558527" y="2817830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48" name="직사각형 47"/>
          <p:cNvSpPr/>
          <p:nvPr/>
        </p:nvSpPr>
        <p:spPr>
          <a:xfrm>
            <a:off x="4095353" y="1354902"/>
            <a:ext cx="2377574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dirty="0" err="1" smtClean="0">
                <a:solidFill>
                  <a:srgbClr val="000000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shape_SetBrushColor</a:t>
            </a:r>
            <a:endParaRPr lang="ko-KR" altLang="en-US" dirty="0"/>
          </a:p>
        </p:txBody>
      </p:sp>
      <p:sp>
        <p:nvSpPr>
          <p:cNvPr id="49" name="타원 48"/>
          <p:cNvSpPr/>
          <p:nvPr/>
        </p:nvSpPr>
        <p:spPr>
          <a:xfrm>
            <a:off x="5897473" y="1037554"/>
            <a:ext cx="427838" cy="359185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3113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892</Words>
  <Application>Microsoft Office PowerPoint</Application>
  <PresentationFormat>와이드스크린</PresentationFormat>
  <Paragraphs>388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7" baseType="lpstr">
      <vt:lpstr>돋움체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30</cp:revision>
  <dcterms:created xsi:type="dcterms:W3CDTF">2025-03-05T01:12:10Z</dcterms:created>
  <dcterms:modified xsi:type="dcterms:W3CDTF">2025-03-07T07:04:09Z</dcterms:modified>
</cp:coreProperties>
</file>