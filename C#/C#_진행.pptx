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02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5039B-5E6A-4E1F-A83F-9E0B677709C1}" type="datetimeFigureOut">
              <a:rPr lang="ko-KR" altLang="en-US" smtClean="0"/>
              <a:t>2025-05-24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7E533-815D-4092-88F6-8260308FE2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0991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5039B-5E6A-4E1F-A83F-9E0B677709C1}" type="datetimeFigureOut">
              <a:rPr lang="ko-KR" altLang="en-US" smtClean="0"/>
              <a:t>2025-05-24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7E533-815D-4092-88F6-8260308FE2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0220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5039B-5E6A-4E1F-A83F-9E0B677709C1}" type="datetimeFigureOut">
              <a:rPr lang="ko-KR" altLang="en-US" smtClean="0"/>
              <a:t>2025-05-24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7E533-815D-4092-88F6-8260308FE2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6980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5039B-5E6A-4E1F-A83F-9E0B677709C1}" type="datetimeFigureOut">
              <a:rPr lang="ko-KR" altLang="en-US" smtClean="0"/>
              <a:t>2025-05-24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7E533-815D-4092-88F6-8260308FE2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7171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5039B-5E6A-4E1F-A83F-9E0B677709C1}" type="datetimeFigureOut">
              <a:rPr lang="ko-KR" altLang="en-US" smtClean="0"/>
              <a:t>2025-05-24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7E533-815D-4092-88F6-8260308FE2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2392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5039B-5E6A-4E1F-A83F-9E0B677709C1}" type="datetimeFigureOut">
              <a:rPr lang="ko-KR" altLang="en-US" smtClean="0"/>
              <a:t>2025-05-24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7E533-815D-4092-88F6-8260308FE2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5647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5039B-5E6A-4E1F-A83F-9E0B677709C1}" type="datetimeFigureOut">
              <a:rPr lang="ko-KR" altLang="en-US" smtClean="0"/>
              <a:t>2025-05-24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7E533-815D-4092-88F6-8260308FE2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848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5039B-5E6A-4E1F-A83F-9E0B677709C1}" type="datetimeFigureOut">
              <a:rPr lang="ko-KR" altLang="en-US" smtClean="0"/>
              <a:t>2025-05-24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7E533-815D-4092-88F6-8260308FE2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2848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5039B-5E6A-4E1F-A83F-9E0B677709C1}" type="datetimeFigureOut">
              <a:rPr lang="ko-KR" altLang="en-US" smtClean="0"/>
              <a:t>2025-05-24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7E533-815D-4092-88F6-8260308FE2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5900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5039B-5E6A-4E1F-A83F-9E0B677709C1}" type="datetimeFigureOut">
              <a:rPr lang="ko-KR" altLang="en-US" smtClean="0"/>
              <a:t>2025-05-24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7E533-815D-4092-88F6-8260308FE2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492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5039B-5E6A-4E1F-A83F-9E0B677709C1}" type="datetimeFigureOut">
              <a:rPr lang="ko-KR" altLang="en-US" smtClean="0"/>
              <a:t>2025-05-24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7E533-815D-4092-88F6-8260308FE2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9785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75039B-5E6A-4E1F-A83F-9E0B677709C1}" type="datetimeFigureOut">
              <a:rPr lang="ko-KR" altLang="en-US" smtClean="0"/>
              <a:t>2025-05-24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07E533-815D-4092-88F6-8260308FE2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4322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841507" y="2769833"/>
            <a:ext cx="1313180" cy="70788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4000" dirty="0"/>
              <a:t>0401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165364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1942" y="71021"/>
            <a:ext cx="11691891" cy="4770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2500" dirty="0"/>
              <a:t>C#</a:t>
            </a:r>
            <a:r>
              <a:rPr lang="ko-KR" altLang="en-US" sz="2500" dirty="0"/>
              <a:t>언어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319596" y="5168284"/>
            <a:ext cx="4128116" cy="6569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OS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319596" y="4361896"/>
            <a:ext cx="2148396" cy="6569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Win32API 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319596" y="3630228"/>
            <a:ext cx="4128116" cy="6569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Application 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2601156" y="4361896"/>
            <a:ext cx="1846555" cy="6569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WinSockAPI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7201270" y="5168284"/>
            <a:ext cx="4128116" cy="6569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OS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7201270" y="3614691"/>
            <a:ext cx="4128116" cy="6569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.NET Framework 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7201270" y="2792766"/>
            <a:ext cx="4128116" cy="6569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Application (.NET </a:t>
            </a:r>
            <a:r>
              <a:rPr lang="ko-KR" altLang="en-US" dirty="0"/>
              <a:t>언어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7201271" y="4391487"/>
            <a:ext cx="2148396" cy="6569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Win32API </a:t>
            </a:r>
            <a:endParaRPr lang="ko-KR" altLang="en-US" dirty="0"/>
          </a:p>
        </p:txBody>
      </p:sp>
      <p:sp>
        <p:nvSpPr>
          <p:cNvPr id="13" name="직사각형 12"/>
          <p:cNvSpPr/>
          <p:nvPr/>
        </p:nvSpPr>
        <p:spPr>
          <a:xfrm>
            <a:off x="9482831" y="4391487"/>
            <a:ext cx="1846555" cy="6569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WinSockAPI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87247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1942" y="71021"/>
            <a:ext cx="11691891" cy="4770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2500" dirty="0"/>
              <a:t>C#</a:t>
            </a:r>
            <a:r>
              <a:rPr lang="ko-KR" altLang="en-US" sz="2500" dirty="0"/>
              <a:t>언어 개발과정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454239" y="1468822"/>
            <a:ext cx="1072719" cy="108794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소스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코드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454239" y="2682056"/>
            <a:ext cx="18347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소스파일</a:t>
            </a:r>
            <a:r>
              <a:rPr lang="en-US" altLang="ko-KR" dirty="0">
                <a:solidFill>
                  <a:schemeClr val="tx1"/>
                </a:solidFill>
              </a:rPr>
              <a:t>(.c/</a:t>
            </a:r>
            <a:r>
              <a:rPr lang="en-US" altLang="ko-KR" dirty="0" err="1">
                <a:solidFill>
                  <a:schemeClr val="tx1"/>
                </a:solidFill>
              </a:rPr>
              <a:t>cpp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오른쪽 화살표 10"/>
          <p:cNvSpPr/>
          <p:nvPr/>
        </p:nvSpPr>
        <p:spPr>
          <a:xfrm>
            <a:off x="2290438" y="1817486"/>
            <a:ext cx="763480" cy="3906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1754819" y="1422903"/>
            <a:ext cx="18347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컴파일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3435658" y="1468822"/>
            <a:ext cx="1072719" cy="108794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기계어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3435658" y="2682056"/>
            <a:ext cx="18347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목적파일</a:t>
            </a:r>
            <a:r>
              <a:rPr lang="en-US" altLang="ko-KR" dirty="0">
                <a:solidFill>
                  <a:schemeClr val="tx1"/>
                </a:solidFill>
              </a:rPr>
              <a:t>(.</a:t>
            </a:r>
            <a:r>
              <a:rPr lang="en-US" altLang="ko-KR" dirty="0" err="1">
                <a:solidFill>
                  <a:schemeClr val="tx1"/>
                </a:solidFill>
              </a:rPr>
              <a:t>obj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오른쪽 화살표 17"/>
          <p:cNvSpPr/>
          <p:nvPr/>
        </p:nvSpPr>
        <p:spPr>
          <a:xfrm>
            <a:off x="5345836" y="1881109"/>
            <a:ext cx="763480" cy="3906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직사각형 18"/>
          <p:cNvSpPr/>
          <p:nvPr/>
        </p:nvSpPr>
        <p:spPr>
          <a:xfrm>
            <a:off x="4780625" y="1448154"/>
            <a:ext cx="18347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/>
              <a:t>링커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6535443" y="1448154"/>
            <a:ext cx="1072719" cy="108794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기계어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6535443" y="2661388"/>
            <a:ext cx="18347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실행파일</a:t>
            </a:r>
            <a:r>
              <a:rPr lang="en-US" altLang="ko-KR" dirty="0">
                <a:solidFill>
                  <a:schemeClr val="tx1"/>
                </a:solidFill>
              </a:rPr>
              <a:t>(.exe)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3" name="직선 화살표 연결선 22"/>
          <p:cNvCxnSpPr/>
          <p:nvPr/>
        </p:nvCxnSpPr>
        <p:spPr>
          <a:xfrm flipV="1">
            <a:off x="454239" y="1003177"/>
            <a:ext cx="7571175" cy="887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/>
          <p:cNvSpPr/>
          <p:nvPr/>
        </p:nvSpPr>
        <p:spPr>
          <a:xfrm>
            <a:off x="454239" y="625537"/>
            <a:ext cx="183471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개발과정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5" name="직선 화살표 연결선 24"/>
          <p:cNvCxnSpPr/>
          <p:nvPr/>
        </p:nvCxnSpPr>
        <p:spPr>
          <a:xfrm>
            <a:off x="8105313" y="1003177"/>
            <a:ext cx="3818879" cy="1023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8180034" y="590960"/>
            <a:ext cx="183471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실행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443880" y="4479832"/>
            <a:ext cx="1072719" cy="108794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소스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코드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443880" y="5693066"/>
            <a:ext cx="18347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소스파일</a:t>
            </a:r>
            <a:r>
              <a:rPr lang="en-US" altLang="ko-KR" dirty="0">
                <a:solidFill>
                  <a:schemeClr val="tx1"/>
                </a:solidFill>
              </a:rPr>
              <a:t>(.</a:t>
            </a:r>
            <a:r>
              <a:rPr lang="en-US" altLang="ko-KR" dirty="0" err="1">
                <a:solidFill>
                  <a:schemeClr val="tx1"/>
                </a:solidFill>
              </a:rPr>
              <a:t>cs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오른쪽 화살표 29"/>
          <p:cNvSpPr/>
          <p:nvPr/>
        </p:nvSpPr>
        <p:spPr>
          <a:xfrm>
            <a:off x="2280079" y="4828496"/>
            <a:ext cx="763480" cy="3906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직사각형 30"/>
          <p:cNvSpPr/>
          <p:nvPr/>
        </p:nvSpPr>
        <p:spPr>
          <a:xfrm>
            <a:off x="1744460" y="4433913"/>
            <a:ext cx="18347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컴파일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3425298" y="4479832"/>
            <a:ext cx="1484051" cy="108794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중간언어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(IL)</a:t>
            </a: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메타데이터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3425299" y="5693066"/>
            <a:ext cx="183471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닷넷어셈블리</a:t>
            </a:r>
            <a:r>
              <a:rPr lang="en-US" altLang="ko-KR" dirty="0">
                <a:solidFill>
                  <a:schemeClr val="tx1"/>
                </a:solidFill>
              </a:rPr>
              <a:t>(.exe)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5345835" y="4269058"/>
            <a:ext cx="571574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CLR</a:t>
            </a:r>
          </a:p>
          <a:p>
            <a:pPr marL="342900" indent="-342900">
              <a:buAutoNum type="arabicPeriod"/>
            </a:pPr>
            <a:r>
              <a:rPr lang="ko-KR" altLang="en-US" dirty="0"/>
              <a:t>메모리 로드</a:t>
            </a:r>
            <a:r>
              <a:rPr lang="en-US" altLang="ko-KR" dirty="0"/>
              <a:t>(</a:t>
            </a:r>
            <a:r>
              <a:rPr lang="ko-KR" altLang="en-US" dirty="0"/>
              <a:t>동작에 필요한 모든 어셈블리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/>
            </a:pPr>
            <a:r>
              <a:rPr lang="ko-KR" altLang="en-US" dirty="0">
                <a:solidFill>
                  <a:schemeClr val="tx1"/>
                </a:solidFill>
              </a:rPr>
              <a:t>컴파일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중간언어 </a:t>
            </a:r>
            <a:r>
              <a:rPr lang="en-US" altLang="ko-KR" dirty="0">
                <a:solidFill>
                  <a:schemeClr val="tx1"/>
                </a:solidFill>
              </a:rPr>
              <a:t>-&gt; </a:t>
            </a:r>
            <a:r>
              <a:rPr lang="ko-KR" altLang="en-US" dirty="0">
                <a:solidFill>
                  <a:schemeClr val="tx1"/>
                </a:solidFill>
              </a:rPr>
              <a:t>기계어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</a:p>
          <a:p>
            <a:r>
              <a:rPr lang="en-US" altLang="ko-KR" dirty="0"/>
              <a:t>     JIT(Just In Time)</a:t>
            </a:r>
            <a:r>
              <a:rPr lang="ko-KR" altLang="en-US" dirty="0"/>
              <a:t>컴파일러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/>
              <a:t>3.  </a:t>
            </a:r>
            <a:r>
              <a:rPr lang="ko-KR" altLang="en-US" dirty="0"/>
              <a:t>실행</a:t>
            </a:r>
            <a:r>
              <a:rPr lang="en-US" altLang="ko-KR" dirty="0"/>
              <a:t> 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38" name="직선 화살표 연결선 37"/>
          <p:cNvCxnSpPr/>
          <p:nvPr/>
        </p:nvCxnSpPr>
        <p:spPr>
          <a:xfrm>
            <a:off x="443880" y="4023065"/>
            <a:ext cx="4465469" cy="136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/>
          <p:cNvSpPr/>
          <p:nvPr/>
        </p:nvSpPr>
        <p:spPr>
          <a:xfrm>
            <a:off x="443880" y="3636547"/>
            <a:ext cx="183471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개발과정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40" name="직선 화살표 연결선 39"/>
          <p:cNvCxnSpPr/>
          <p:nvPr/>
        </p:nvCxnSpPr>
        <p:spPr>
          <a:xfrm>
            <a:off x="5106877" y="4014187"/>
            <a:ext cx="3818879" cy="1023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/>
          <p:cNvSpPr/>
          <p:nvPr/>
        </p:nvSpPr>
        <p:spPr>
          <a:xfrm>
            <a:off x="5181598" y="3601970"/>
            <a:ext cx="183471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실행</a:t>
            </a:r>
          </a:p>
        </p:txBody>
      </p:sp>
    </p:spTree>
    <p:extLst>
      <p:ext uri="{BB962C8B-B14F-4D97-AF65-F5344CB8AC3E}">
        <p14:creationId xmlns:p14="http://schemas.microsoft.com/office/powerpoint/2010/main" val="4201313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1942" y="71021"/>
            <a:ext cx="11691891" cy="4770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2500" dirty="0"/>
              <a:t>C#</a:t>
            </a:r>
            <a:r>
              <a:rPr lang="ko-KR" altLang="en-US" sz="2500" dirty="0"/>
              <a:t>언어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730928" y="1010705"/>
            <a:ext cx="487975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>
                <a:solidFill>
                  <a:schemeClr val="tx1"/>
                </a:solidFill>
              </a:rPr>
              <a:t>타입 </a:t>
            </a:r>
            <a:endParaRPr lang="en-US" altLang="ko-KR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dirty="0"/>
              <a:t>입출력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>
                <a:solidFill>
                  <a:schemeClr val="tx1"/>
                </a:solidFill>
              </a:rPr>
              <a:t>연산자</a:t>
            </a:r>
            <a:endParaRPr lang="en-US" altLang="ko-KR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dirty="0" err="1"/>
              <a:t>제어문</a:t>
            </a:r>
            <a:r>
              <a:rPr lang="en-US" altLang="ko-KR" dirty="0"/>
              <a:t>(</a:t>
            </a:r>
            <a:r>
              <a:rPr lang="ko-KR" altLang="en-US" dirty="0" err="1"/>
              <a:t>분기문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/>
            </a:pPr>
            <a:r>
              <a:rPr lang="ko-KR" altLang="en-US" dirty="0" err="1"/>
              <a:t>제어문</a:t>
            </a:r>
            <a:r>
              <a:rPr lang="en-US" altLang="ko-KR" dirty="0"/>
              <a:t>(</a:t>
            </a:r>
            <a:r>
              <a:rPr lang="ko-KR" altLang="en-US" dirty="0" err="1"/>
              <a:t>반복문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/>
            </a:pPr>
            <a:r>
              <a:rPr lang="ko-KR" altLang="en-US" dirty="0"/>
              <a:t>배열 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>
                <a:solidFill>
                  <a:srgbClr val="FF0000"/>
                </a:solidFill>
              </a:rPr>
              <a:t>포인터</a:t>
            </a:r>
            <a:r>
              <a:rPr lang="en-US" altLang="ko-KR" dirty="0">
                <a:solidFill>
                  <a:srgbClr val="FF0000"/>
                </a:solidFill>
              </a:rPr>
              <a:t>(C#</a:t>
            </a:r>
            <a:r>
              <a:rPr lang="ko-KR" altLang="en-US" dirty="0">
                <a:solidFill>
                  <a:srgbClr val="FF0000"/>
                </a:solidFill>
              </a:rPr>
              <a:t>언어만을 가지고 구현 </a:t>
            </a:r>
            <a:r>
              <a:rPr lang="en-US" altLang="ko-KR" dirty="0">
                <a:solidFill>
                  <a:srgbClr val="FF0000"/>
                </a:solidFill>
              </a:rPr>
              <a:t>X)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     C#</a:t>
            </a:r>
            <a:r>
              <a:rPr lang="ko-KR" altLang="en-US" dirty="0">
                <a:solidFill>
                  <a:srgbClr val="FF0000"/>
                </a:solidFill>
              </a:rPr>
              <a:t>언어에서 </a:t>
            </a:r>
            <a:r>
              <a:rPr lang="en-US" altLang="ko-KR" dirty="0">
                <a:solidFill>
                  <a:srgbClr val="FF0000"/>
                </a:solidFill>
              </a:rPr>
              <a:t>C/C++</a:t>
            </a:r>
            <a:r>
              <a:rPr lang="ko-KR" altLang="en-US" dirty="0">
                <a:solidFill>
                  <a:srgbClr val="FF0000"/>
                </a:solidFill>
              </a:rPr>
              <a:t>로 만든 </a:t>
            </a:r>
            <a:r>
              <a:rPr lang="en-US" altLang="ko-KR" dirty="0">
                <a:solidFill>
                  <a:srgbClr val="FF0000"/>
                </a:solidFill>
              </a:rPr>
              <a:t>DLL</a:t>
            </a:r>
            <a:r>
              <a:rPr lang="ko-KR" altLang="en-US" dirty="0">
                <a:solidFill>
                  <a:srgbClr val="FF0000"/>
                </a:solidFill>
              </a:rPr>
              <a:t>사용가능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                    Win32API</a:t>
            </a:r>
            <a:r>
              <a:rPr lang="ko-KR" altLang="en-US" dirty="0">
                <a:solidFill>
                  <a:srgbClr val="FF0000"/>
                </a:solidFill>
              </a:rPr>
              <a:t>도 사용 가능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/>
              <a:t>8. </a:t>
            </a:r>
            <a:r>
              <a:rPr lang="ko-KR" altLang="en-US" dirty="0"/>
              <a:t>함수</a:t>
            </a:r>
            <a:endParaRPr lang="en-US" altLang="ko-KR" dirty="0"/>
          </a:p>
          <a:p>
            <a:r>
              <a:rPr lang="en-US" altLang="ko-KR" dirty="0"/>
              <a:t>9. </a:t>
            </a:r>
            <a:r>
              <a:rPr lang="ko-KR" altLang="en-US" dirty="0"/>
              <a:t>구조체</a:t>
            </a:r>
            <a:endParaRPr lang="en-US" altLang="ko-KR" dirty="0"/>
          </a:p>
          <a:p>
            <a:r>
              <a:rPr lang="en-US" altLang="ko-KR" dirty="0"/>
              <a:t>10. </a:t>
            </a:r>
            <a:r>
              <a:rPr lang="ko-KR" altLang="en-US" dirty="0" err="1"/>
              <a:t>파일입출력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6067887" y="1010705"/>
            <a:ext cx="4879759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전통적인 문법에서 수정 추가된 문법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C#</a:t>
            </a:r>
            <a:r>
              <a:rPr lang="ko-KR" altLang="en-US" dirty="0"/>
              <a:t>언어 </a:t>
            </a:r>
            <a:r>
              <a:rPr lang="en-US" altLang="ko-KR" dirty="0"/>
              <a:t>OOP </a:t>
            </a:r>
            <a:r>
              <a:rPr lang="ko-KR" altLang="en-US" dirty="0"/>
              <a:t>언어이다</a:t>
            </a:r>
            <a:r>
              <a:rPr lang="en-US" altLang="ko-KR" dirty="0"/>
              <a:t>.</a:t>
            </a:r>
          </a:p>
          <a:p>
            <a:pPr marL="342900" indent="-342900">
              <a:buAutoNum type="arabicParenR"/>
            </a:pPr>
            <a:r>
              <a:rPr lang="ko-KR" altLang="en-US" dirty="0">
                <a:solidFill>
                  <a:schemeClr val="tx1"/>
                </a:solidFill>
              </a:rPr>
              <a:t>캡슐화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/>
              <a:t>2)  </a:t>
            </a:r>
            <a:r>
              <a:rPr lang="ko-KR" altLang="en-US" dirty="0"/>
              <a:t>상속</a:t>
            </a:r>
            <a:endParaRPr lang="en-US" altLang="ko-KR" dirty="0"/>
          </a:p>
          <a:p>
            <a:pPr marL="342900" indent="-342900">
              <a:buAutoNum type="arabicParenR" startAt="3"/>
            </a:pPr>
            <a:r>
              <a:rPr lang="ko-KR" altLang="en-US" dirty="0" err="1">
                <a:solidFill>
                  <a:schemeClr val="tx1"/>
                </a:solidFill>
              </a:rPr>
              <a:t>다형성</a:t>
            </a:r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/>
          </a:p>
          <a:p>
            <a:r>
              <a:rPr lang="ko-KR" altLang="en-US" dirty="0"/>
              <a:t>컬렉션 클래스 </a:t>
            </a:r>
            <a:endParaRPr lang="en-US" altLang="ko-KR" dirty="0"/>
          </a:p>
          <a:p>
            <a:r>
              <a:rPr lang="ko-KR" altLang="en-US" dirty="0" err="1"/>
              <a:t>델리게이션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>
                <a:solidFill>
                  <a:schemeClr val="tx1"/>
                </a:solidFill>
              </a:rPr>
              <a:t>이벤트 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 err="1"/>
              <a:t>닷넷</a:t>
            </a:r>
            <a:r>
              <a:rPr lang="ko-KR" altLang="en-US" dirty="0"/>
              <a:t> 어셈블리</a:t>
            </a:r>
            <a:r>
              <a:rPr lang="en-US" altLang="ko-KR" dirty="0"/>
              <a:t>DLL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9593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1942" y="71021"/>
            <a:ext cx="11691891" cy="4770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2500" dirty="0"/>
              <a:t>C#</a:t>
            </a:r>
            <a:r>
              <a:rPr lang="ko-KR" altLang="en-US" sz="2500" dirty="0"/>
              <a:t>언어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730928" y="1010705"/>
            <a:ext cx="487975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>
                <a:solidFill>
                  <a:schemeClr val="tx1"/>
                </a:solidFill>
              </a:rPr>
              <a:t>타입 </a:t>
            </a:r>
            <a:endParaRPr lang="en-US" altLang="ko-KR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dirty="0"/>
              <a:t>입출력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>
                <a:solidFill>
                  <a:schemeClr val="tx1"/>
                </a:solidFill>
              </a:rPr>
              <a:t>연산자</a:t>
            </a:r>
            <a:endParaRPr lang="en-US" altLang="ko-KR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dirty="0" err="1"/>
              <a:t>제어문</a:t>
            </a:r>
            <a:r>
              <a:rPr lang="en-US" altLang="ko-KR" dirty="0"/>
              <a:t>(</a:t>
            </a:r>
            <a:r>
              <a:rPr lang="ko-KR" altLang="en-US" dirty="0" err="1"/>
              <a:t>분기문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/>
            </a:pPr>
            <a:r>
              <a:rPr lang="ko-KR" altLang="en-US" dirty="0" err="1"/>
              <a:t>제어문</a:t>
            </a:r>
            <a:r>
              <a:rPr lang="en-US" altLang="ko-KR" dirty="0"/>
              <a:t>(</a:t>
            </a:r>
            <a:r>
              <a:rPr lang="ko-KR" altLang="en-US" dirty="0" err="1"/>
              <a:t>반복문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/>
            </a:pPr>
            <a:r>
              <a:rPr lang="ko-KR" altLang="en-US" dirty="0"/>
              <a:t>배열 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>
                <a:solidFill>
                  <a:srgbClr val="FF0000"/>
                </a:solidFill>
              </a:rPr>
              <a:t>포인터</a:t>
            </a:r>
            <a:r>
              <a:rPr lang="en-US" altLang="ko-KR" dirty="0">
                <a:solidFill>
                  <a:srgbClr val="FF0000"/>
                </a:solidFill>
              </a:rPr>
              <a:t>(C#</a:t>
            </a:r>
            <a:r>
              <a:rPr lang="ko-KR" altLang="en-US" dirty="0">
                <a:solidFill>
                  <a:srgbClr val="FF0000"/>
                </a:solidFill>
              </a:rPr>
              <a:t>언어만을 가지고 구현 </a:t>
            </a:r>
            <a:r>
              <a:rPr lang="en-US" altLang="ko-KR" dirty="0">
                <a:solidFill>
                  <a:srgbClr val="FF0000"/>
                </a:solidFill>
              </a:rPr>
              <a:t>X)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     C#</a:t>
            </a:r>
            <a:r>
              <a:rPr lang="ko-KR" altLang="en-US" dirty="0">
                <a:solidFill>
                  <a:srgbClr val="FF0000"/>
                </a:solidFill>
              </a:rPr>
              <a:t>언어에서 </a:t>
            </a:r>
            <a:r>
              <a:rPr lang="en-US" altLang="ko-KR" dirty="0">
                <a:solidFill>
                  <a:srgbClr val="FF0000"/>
                </a:solidFill>
              </a:rPr>
              <a:t>C/C++</a:t>
            </a:r>
            <a:r>
              <a:rPr lang="ko-KR" altLang="en-US" dirty="0">
                <a:solidFill>
                  <a:srgbClr val="FF0000"/>
                </a:solidFill>
              </a:rPr>
              <a:t>로 만든 </a:t>
            </a:r>
            <a:r>
              <a:rPr lang="en-US" altLang="ko-KR" dirty="0">
                <a:solidFill>
                  <a:srgbClr val="FF0000"/>
                </a:solidFill>
              </a:rPr>
              <a:t>DLL</a:t>
            </a:r>
            <a:r>
              <a:rPr lang="ko-KR" altLang="en-US" dirty="0">
                <a:solidFill>
                  <a:srgbClr val="FF0000"/>
                </a:solidFill>
              </a:rPr>
              <a:t>사용가능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                    Win32API</a:t>
            </a:r>
            <a:r>
              <a:rPr lang="ko-KR" altLang="en-US" dirty="0">
                <a:solidFill>
                  <a:srgbClr val="FF0000"/>
                </a:solidFill>
              </a:rPr>
              <a:t>도 사용 가능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/>
              <a:t>8. </a:t>
            </a:r>
            <a:r>
              <a:rPr lang="ko-KR" altLang="en-US" dirty="0"/>
              <a:t>함수</a:t>
            </a:r>
            <a:endParaRPr lang="en-US" altLang="ko-KR" dirty="0"/>
          </a:p>
          <a:p>
            <a:r>
              <a:rPr lang="en-US" altLang="ko-KR" dirty="0"/>
              <a:t>9. </a:t>
            </a:r>
            <a:r>
              <a:rPr lang="ko-KR" altLang="en-US" dirty="0"/>
              <a:t>구조체</a:t>
            </a:r>
            <a:endParaRPr lang="en-US" altLang="ko-KR" dirty="0"/>
          </a:p>
          <a:p>
            <a:r>
              <a:rPr lang="en-US" altLang="ko-KR" dirty="0"/>
              <a:t>10. </a:t>
            </a:r>
            <a:r>
              <a:rPr lang="ko-KR" altLang="en-US" dirty="0" err="1"/>
              <a:t>파일입출력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6067887" y="1010705"/>
            <a:ext cx="4879759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전통적인 문법에서 수정 추가된 문법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C#</a:t>
            </a:r>
            <a:r>
              <a:rPr lang="ko-KR" altLang="en-US" dirty="0"/>
              <a:t>언어 </a:t>
            </a:r>
            <a:r>
              <a:rPr lang="en-US" altLang="ko-KR" dirty="0"/>
              <a:t>OOP </a:t>
            </a:r>
            <a:r>
              <a:rPr lang="ko-KR" altLang="en-US" dirty="0"/>
              <a:t>언어이다</a:t>
            </a:r>
            <a:r>
              <a:rPr lang="en-US" altLang="ko-KR" dirty="0"/>
              <a:t>.</a:t>
            </a:r>
          </a:p>
          <a:p>
            <a:pPr marL="342900" indent="-342900">
              <a:buAutoNum type="arabicParenR"/>
            </a:pPr>
            <a:r>
              <a:rPr lang="ko-KR" altLang="en-US" dirty="0">
                <a:solidFill>
                  <a:schemeClr val="tx1"/>
                </a:solidFill>
              </a:rPr>
              <a:t>캡슐화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/>
              <a:t>2)  </a:t>
            </a:r>
            <a:r>
              <a:rPr lang="ko-KR" altLang="en-US" dirty="0"/>
              <a:t>상속</a:t>
            </a:r>
            <a:endParaRPr lang="en-US" altLang="ko-KR" dirty="0"/>
          </a:p>
          <a:p>
            <a:pPr marL="342900" indent="-342900">
              <a:buAutoNum type="arabicParenR" startAt="3"/>
            </a:pPr>
            <a:r>
              <a:rPr lang="ko-KR" altLang="en-US" dirty="0" err="1">
                <a:solidFill>
                  <a:schemeClr val="tx1"/>
                </a:solidFill>
              </a:rPr>
              <a:t>다형성</a:t>
            </a:r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/>
          </a:p>
          <a:p>
            <a:r>
              <a:rPr lang="ko-KR" altLang="en-US" dirty="0"/>
              <a:t>컬렉션 클래스 </a:t>
            </a:r>
            <a:endParaRPr lang="en-US" altLang="ko-KR" dirty="0"/>
          </a:p>
          <a:p>
            <a:r>
              <a:rPr lang="ko-KR" altLang="en-US" dirty="0" err="1"/>
              <a:t>델리게이션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>
                <a:solidFill>
                  <a:schemeClr val="tx1"/>
                </a:solidFill>
              </a:rPr>
              <a:t>이벤트 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 err="1"/>
              <a:t>닷넷</a:t>
            </a:r>
            <a:r>
              <a:rPr lang="ko-KR" altLang="en-US" dirty="0"/>
              <a:t> 어셈블리</a:t>
            </a:r>
            <a:r>
              <a:rPr lang="en-US" altLang="ko-KR" dirty="0"/>
              <a:t>DLL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5581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841507" y="2769833"/>
            <a:ext cx="1313180" cy="70788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4000" dirty="0"/>
              <a:t>0402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337752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8174789"/>
              </p:ext>
            </p:extLst>
          </p:nvPr>
        </p:nvGraphicFramePr>
        <p:xfrm>
          <a:off x="505041" y="728543"/>
          <a:ext cx="2389080" cy="1737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89080">
                  <a:extLst>
                    <a:ext uri="{9D8B030D-6E8A-4147-A177-3AD203B41FA5}">
                      <a16:colId xmlns:a16="http://schemas.microsoft.com/office/drawing/2014/main" val="30441525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&lt;&lt;</a:t>
                      </a:r>
                      <a:r>
                        <a:rPr lang="en-US" altLang="ko-KR" sz="240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static</a:t>
                      </a:r>
                      <a:r>
                        <a:rPr lang="en-US" altLang="ko-KR" sz="2400" dirty="0"/>
                        <a:t>&gt;&gt;</a:t>
                      </a:r>
                    </a:p>
                    <a:p>
                      <a:pPr algn="ctr" latinLnBrk="1"/>
                      <a:r>
                        <a:rPr lang="en-US" altLang="ko-KR" sz="2400" dirty="0" err="1"/>
                        <a:t>WbLib</a:t>
                      </a:r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3947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6978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352173"/>
                  </a:ext>
                </a:extLst>
              </a:tr>
            </a:tbl>
          </a:graphicData>
        </a:graphic>
      </p:graphicFrame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522681"/>
              </p:ext>
            </p:extLst>
          </p:nvPr>
        </p:nvGraphicFramePr>
        <p:xfrm>
          <a:off x="505041" y="2693025"/>
          <a:ext cx="2389080" cy="1737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89080">
                  <a:extLst>
                    <a:ext uri="{9D8B030D-6E8A-4147-A177-3AD203B41FA5}">
                      <a16:colId xmlns:a16="http://schemas.microsoft.com/office/drawing/2014/main" val="30441525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&lt;&lt;</a:t>
                      </a:r>
                      <a:r>
                        <a:rPr lang="en-US" altLang="ko-KR" sz="240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static</a:t>
                      </a:r>
                      <a:r>
                        <a:rPr lang="en-US" altLang="ko-KR" sz="2400" dirty="0"/>
                        <a:t>&gt;&gt;</a:t>
                      </a:r>
                    </a:p>
                    <a:p>
                      <a:pPr algn="ctr" latinLnBrk="1"/>
                      <a:r>
                        <a:rPr lang="en-US" altLang="ko-KR" sz="2400" dirty="0" err="1"/>
                        <a:t>WbFile</a:t>
                      </a:r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3947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6978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352173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824236"/>
              </p:ext>
            </p:extLst>
          </p:nvPr>
        </p:nvGraphicFramePr>
        <p:xfrm>
          <a:off x="4813838" y="334185"/>
          <a:ext cx="2389080" cy="1737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89080">
                  <a:extLst>
                    <a:ext uri="{9D8B030D-6E8A-4147-A177-3AD203B41FA5}">
                      <a16:colId xmlns:a16="http://schemas.microsoft.com/office/drawing/2014/main" val="30441525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&lt;&lt;</a:t>
                      </a:r>
                      <a:r>
                        <a:rPr lang="ko-KR" altLang="en-US" sz="2400" dirty="0"/>
                        <a:t>저장소</a:t>
                      </a:r>
                      <a:r>
                        <a:rPr lang="en-US" altLang="ko-KR" sz="2400" dirty="0"/>
                        <a:t>&gt;&gt;</a:t>
                      </a:r>
                    </a:p>
                    <a:p>
                      <a:pPr algn="ctr" latinLnBrk="1"/>
                      <a:r>
                        <a:rPr lang="en-US" altLang="ko-KR" sz="2400" dirty="0" err="1"/>
                        <a:t>WbArray</a:t>
                      </a:r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3947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6978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352173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8899526"/>
              </p:ext>
            </p:extLst>
          </p:nvPr>
        </p:nvGraphicFramePr>
        <p:xfrm>
          <a:off x="4813838" y="4824685"/>
          <a:ext cx="2389080" cy="1737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89080">
                  <a:extLst>
                    <a:ext uri="{9D8B030D-6E8A-4147-A177-3AD203B41FA5}">
                      <a16:colId xmlns:a16="http://schemas.microsoft.com/office/drawing/2014/main" val="30441525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&lt;&lt;</a:t>
                      </a:r>
                      <a:r>
                        <a:rPr lang="ko-KR" altLang="en-US" sz="1800" dirty="0"/>
                        <a:t>흐름</a:t>
                      </a:r>
                      <a:r>
                        <a:rPr lang="en-US" altLang="ko-KR" sz="1800" dirty="0"/>
                        <a:t>,</a:t>
                      </a:r>
                      <a:r>
                        <a:rPr lang="ko-KR" altLang="en-US" sz="180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싱글톤</a:t>
                      </a:r>
                      <a:r>
                        <a:rPr lang="en-US" altLang="ko-KR" sz="2400" dirty="0"/>
                        <a:t>&gt;&gt;</a:t>
                      </a:r>
                    </a:p>
                    <a:p>
                      <a:pPr algn="ctr" latinLnBrk="1"/>
                      <a:r>
                        <a:rPr lang="en-US" altLang="ko-KR" sz="2400" dirty="0"/>
                        <a:t>App</a:t>
                      </a:r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3947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6978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352173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561043"/>
              </p:ext>
            </p:extLst>
          </p:nvPr>
        </p:nvGraphicFramePr>
        <p:xfrm>
          <a:off x="9021224" y="2465903"/>
          <a:ext cx="2389080" cy="1737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89080">
                  <a:extLst>
                    <a:ext uri="{9D8B030D-6E8A-4147-A177-3AD203B41FA5}">
                      <a16:colId xmlns:a16="http://schemas.microsoft.com/office/drawing/2014/main" val="30441525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&lt;&lt;</a:t>
                      </a:r>
                      <a:r>
                        <a:rPr lang="ko-KR" altLang="en-US" sz="2400" dirty="0"/>
                        <a:t>데이터</a:t>
                      </a:r>
                      <a:r>
                        <a:rPr lang="en-US" altLang="ko-KR" sz="2400" dirty="0"/>
                        <a:t>&gt;&gt;</a:t>
                      </a:r>
                    </a:p>
                    <a:p>
                      <a:pPr algn="ctr" latinLnBrk="1"/>
                      <a:r>
                        <a:rPr lang="en-US" altLang="ko-KR" sz="2400" dirty="0" err="1"/>
                        <a:t>AccountIO</a:t>
                      </a:r>
                      <a:endParaRPr lang="en-US" altLang="ko-KR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3947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6978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352173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1479188"/>
              </p:ext>
            </p:extLst>
          </p:nvPr>
        </p:nvGraphicFramePr>
        <p:xfrm>
          <a:off x="9021224" y="481603"/>
          <a:ext cx="2389080" cy="1737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89080">
                  <a:extLst>
                    <a:ext uri="{9D8B030D-6E8A-4147-A177-3AD203B41FA5}">
                      <a16:colId xmlns:a16="http://schemas.microsoft.com/office/drawing/2014/main" val="30441525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&lt;&lt;</a:t>
                      </a:r>
                      <a:r>
                        <a:rPr lang="ko-KR" altLang="en-US" sz="2400" dirty="0"/>
                        <a:t>데이터</a:t>
                      </a:r>
                      <a:r>
                        <a:rPr lang="en-US" altLang="ko-KR" sz="2400" dirty="0"/>
                        <a:t>&gt;&gt;</a:t>
                      </a:r>
                    </a:p>
                    <a:p>
                      <a:pPr algn="ctr" latinLnBrk="1"/>
                      <a:r>
                        <a:rPr lang="en-US" altLang="ko-KR" sz="2400" dirty="0"/>
                        <a:t>Account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3947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6978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352173"/>
                  </a:ext>
                </a:extLst>
              </a:tr>
            </a:tbl>
          </a:graphicData>
        </a:graphic>
      </p:graphicFrame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1600842"/>
              </p:ext>
            </p:extLst>
          </p:nvPr>
        </p:nvGraphicFramePr>
        <p:xfrm>
          <a:off x="4813838" y="2464999"/>
          <a:ext cx="2389080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89080">
                  <a:extLst>
                    <a:ext uri="{9D8B030D-6E8A-4147-A177-3AD203B41FA5}">
                      <a16:colId xmlns:a16="http://schemas.microsoft.com/office/drawing/2014/main" val="30441525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&lt;&lt;</a:t>
                      </a:r>
                      <a:r>
                        <a:rPr lang="ko-KR" altLang="en-US" sz="1800" dirty="0"/>
                        <a:t>관리자</a:t>
                      </a:r>
                      <a:r>
                        <a:rPr lang="en-US" altLang="ko-KR" sz="1800" dirty="0"/>
                        <a:t>,</a:t>
                      </a:r>
                      <a:r>
                        <a:rPr lang="ko-KR" altLang="en-US" sz="180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싱글톤</a:t>
                      </a:r>
                      <a:r>
                        <a:rPr lang="en-US" altLang="ko-KR" sz="1800" dirty="0"/>
                        <a:t>&gt;&gt;</a:t>
                      </a:r>
                    </a:p>
                    <a:p>
                      <a:pPr algn="ctr" latinLnBrk="1"/>
                      <a:r>
                        <a:rPr lang="en-US" altLang="ko-KR" sz="2400" dirty="0" err="1"/>
                        <a:t>AccountControl</a:t>
                      </a:r>
                      <a:endParaRPr lang="en-US" altLang="ko-KR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3947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6978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352173"/>
                  </a:ext>
                </a:extLst>
              </a:tr>
            </a:tbl>
          </a:graphicData>
        </a:graphic>
      </p:graphicFrame>
      <p:sp>
        <p:nvSpPr>
          <p:cNvPr id="11" name="직사각형 10"/>
          <p:cNvSpPr/>
          <p:nvPr/>
        </p:nvSpPr>
        <p:spPr>
          <a:xfrm>
            <a:off x="259690" y="581915"/>
            <a:ext cx="2794228" cy="3936819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8818650" y="392147"/>
            <a:ext cx="2794228" cy="3936819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5233804"/>
              </p:ext>
            </p:extLst>
          </p:nvPr>
        </p:nvGraphicFramePr>
        <p:xfrm>
          <a:off x="1371107" y="4824685"/>
          <a:ext cx="2389080" cy="1737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89080">
                  <a:extLst>
                    <a:ext uri="{9D8B030D-6E8A-4147-A177-3AD203B41FA5}">
                      <a16:colId xmlns:a16="http://schemas.microsoft.com/office/drawing/2014/main" val="30441525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&lt;&lt;main&gt;&gt;</a:t>
                      </a:r>
                    </a:p>
                    <a:p>
                      <a:pPr algn="ctr" latinLnBrk="1"/>
                      <a:r>
                        <a:rPr lang="en-US" altLang="ko-KR" sz="2400" dirty="0"/>
                        <a:t>Program</a:t>
                      </a:r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3947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6978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352173"/>
                  </a:ext>
                </a:extLst>
              </a:tr>
            </a:tbl>
          </a:graphicData>
        </a:graphic>
      </p:graphicFrame>
      <p:cxnSp>
        <p:nvCxnSpPr>
          <p:cNvPr id="15" name="직선 화살표 연결선 14"/>
          <p:cNvCxnSpPr/>
          <p:nvPr/>
        </p:nvCxnSpPr>
        <p:spPr>
          <a:xfrm flipV="1">
            <a:off x="3772107" y="5486400"/>
            <a:ext cx="1041731" cy="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/>
          <p:nvPr/>
        </p:nvCxnSpPr>
        <p:spPr>
          <a:xfrm flipH="1" flipV="1">
            <a:off x="5894773" y="4202359"/>
            <a:ext cx="9455" cy="62232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>
            <a:endCxn id="6" idx="2"/>
          </p:cNvCxnSpPr>
          <p:nvPr/>
        </p:nvCxnSpPr>
        <p:spPr>
          <a:xfrm flipV="1">
            <a:off x="6008378" y="2071545"/>
            <a:ext cx="0" cy="393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/>
          <p:nvPr/>
        </p:nvCxnSpPr>
        <p:spPr>
          <a:xfrm>
            <a:off x="7202918" y="2938509"/>
            <a:ext cx="1597652" cy="171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/>
          <p:nvPr/>
        </p:nvCxnSpPr>
        <p:spPr>
          <a:xfrm flipH="1">
            <a:off x="3094485" y="2796467"/>
            <a:ext cx="1719354" cy="8877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/>
          <p:nvPr/>
        </p:nvCxnSpPr>
        <p:spPr>
          <a:xfrm flipH="1" flipV="1">
            <a:off x="3069268" y="3036163"/>
            <a:ext cx="1744569" cy="2006355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/>
          <p:cNvSpPr/>
          <p:nvPr/>
        </p:nvSpPr>
        <p:spPr>
          <a:xfrm>
            <a:off x="11502172" y="187286"/>
            <a:ext cx="408372" cy="39462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2" name="직사각형 31"/>
          <p:cNvSpPr/>
          <p:nvPr/>
        </p:nvSpPr>
        <p:spPr>
          <a:xfrm>
            <a:off x="46464" y="334185"/>
            <a:ext cx="408372" cy="39462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33" name="직사각형 32"/>
          <p:cNvSpPr/>
          <p:nvPr/>
        </p:nvSpPr>
        <p:spPr>
          <a:xfrm>
            <a:off x="4524918" y="194832"/>
            <a:ext cx="408372" cy="39462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34" name="직사각형 33"/>
          <p:cNvSpPr/>
          <p:nvPr/>
        </p:nvSpPr>
        <p:spPr>
          <a:xfrm>
            <a:off x="4516172" y="2247493"/>
            <a:ext cx="408372" cy="39462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5" name="직사각형 34"/>
          <p:cNvSpPr/>
          <p:nvPr/>
        </p:nvSpPr>
        <p:spPr>
          <a:xfrm>
            <a:off x="4596083" y="4601345"/>
            <a:ext cx="408372" cy="39462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36" name="직사각형 35"/>
          <p:cNvSpPr/>
          <p:nvPr/>
        </p:nvSpPr>
        <p:spPr>
          <a:xfrm>
            <a:off x="1166921" y="4783808"/>
            <a:ext cx="408372" cy="39462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9162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841507" y="2769833"/>
            <a:ext cx="1313180" cy="70788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4000" dirty="0"/>
              <a:t>0403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331973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1942" y="71021"/>
            <a:ext cx="11691891" cy="4770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2500" dirty="0"/>
              <a:t>C#</a:t>
            </a:r>
            <a:r>
              <a:rPr lang="ko-KR" altLang="en-US" sz="2500" dirty="0"/>
              <a:t>언어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404" y="644741"/>
            <a:ext cx="3753374" cy="482984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9497" y="644741"/>
            <a:ext cx="3096057" cy="2581635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5468645" y="4394446"/>
            <a:ext cx="2308194" cy="6036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Man</a:t>
            </a:r>
          </a:p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맴버필드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5468645" y="3950562"/>
            <a:ext cx="2308194" cy="44388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가상함수테이블주소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9323034" y="4776186"/>
            <a:ext cx="2308194" cy="44388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&amp;Student::work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9554676" y="5366097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가상함수테이블</a:t>
            </a:r>
          </a:p>
        </p:txBody>
      </p:sp>
      <p:cxnSp>
        <p:nvCxnSpPr>
          <p:cNvPr id="12" name="직선 화살표 연결선 11"/>
          <p:cNvCxnSpPr>
            <a:endCxn id="10" idx="1"/>
          </p:cNvCxnSpPr>
          <p:nvPr/>
        </p:nvCxnSpPr>
        <p:spPr>
          <a:xfrm>
            <a:off x="7776839" y="4172503"/>
            <a:ext cx="1546195" cy="82562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/>
          <p:cNvSpPr/>
          <p:nvPr/>
        </p:nvSpPr>
        <p:spPr>
          <a:xfrm>
            <a:off x="5481961" y="4998127"/>
            <a:ext cx="2308194" cy="6036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Student</a:t>
            </a:r>
          </a:p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맴버필드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4452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0604045"/>
              </p:ext>
            </p:extLst>
          </p:nvPr>
        </p:nvGraphicFramePr>
        <p:xfrm>
          <a:off x="4485365" y="1491446"/>
          <a:ext cx="2389080" cy="934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89080">
                  <a:extLst>
                    <a:ext uri="{9D8B030D-6E8A-4147-A177-3AD203B41FA5}">
                      <a16:colId xmlns:a16="http://schemas.microsoft.com/office/drawing/2014/main" val="3044152518"/>
                    </a:ext>
                  </a:extLst>
                </a:gridCol>
              </a:tblGrid>
              <a:tr h="4438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&lt;&lt;interface&gt;&gt;</a:t>
                      </a:r>
                    </a:p>
                    <a:p>
                      <a:pPr algn="ctr" latinLnBrk="1"/>
                      <a:r>
                        <a:rPr lang="en-US" altLang="ko-KR" sz="2000" dirty="0" err="1"/>
                        <a:t>ICollection</a:t>
                      </a:r>
                      <a:endParaRPr lang="ko-KR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3947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6978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352173"/>
                  </a:ext>
                </a:extLst>
              </a:tr>
            </a:tbl>
          </a:graphicData>
        </a:graphic>
      </p:graphicFrame>
      <p:cxnSp>
        <p:nvCxnSpPr>
          <p:cNvPr id="18" name="직선 화살표 연결선 17"/>
          <p:cNvCxnSpPr/>
          <p:nvPr/>
        </p:nvCxnSpPr>
        <p:spPr>
          <a:xfrm flipV="1">
            <a:off x="2627790" y="2032095"/>
            <a:ext cx="1830943" cy="72254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표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0071207"/>
              </p:ext>
            </p:extLst>
          </p:nvPr>
        </p:nvGraphicFramePr>
        <p:xfrm>
          <a:off x="1122207" y="2754640"/>
          <a:ext cx="2389080" cy="934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89080">
                  <a:extLst>
                    <a:ext uri="{9D8B030D-6E8A-4147-A177-3AD203B41FA5}">
                      <a16:colId xmlns:a16="http://schemas.microsoft.com/office/drawing/2014/main" val="3044152518"/>
                    </a:ext>
                  </a:extLst>
                </a:gridCol>
              </a:tblGrid>
              <a:tr h="4438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&lt;&lt;interface&gt;&gt;</a:t>
                      </a:r>
                    </a:p>
                    <a:p>
                      <a:pPr algn="ctr" latinLnBrk="1"/>
                      <a:r>
                        <a:rPr lang="en-US" altLang="ko-KR" sz="2000" dirty="0" err="1"/>
                        <a:t>IList</a:t>
                      </a:r>
                      <a:endParaRPr lang="ko-KR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3947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6978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352173"/>
                  </a:ext>
                </a:extLst>
              </a:tr>
            </a:tbl>
          </a:graphicData>
        </a:graphic>
      </p:graphicFrame>
      <p:graphicFrame>
        <p:nvGraphicFramePr>
          <p:cNvPr id="26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4618130"/>
              </p:ext>
            </p:extLst>
          </p:nvPr>
        </p:nvGraphicFramePr>
        <p:xfrm>
          <a:off x="8234701" y="2654421"/>
          <a:ext cx="2389080" cy="934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89080">
                  <a:extLst>
                    <a:ext uri="{9D8B030D-6E8A-4147-A177-3AD203B41FA5}">
                      <a16:colId xmlns:a16="http://schemas.microsoft.com/office/drawing/2014/main" val="3044152518"/>
                    </a:ext>
                  </a:extLst>
                </a:gridCol>
              </a:tblGrid>
              <a:tr h="4438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&lt;&lt;interface&gt;&gt;</a:t>
                      </a:r>
                    </a:p>
                    <a:p>
                      <a:pPr algn="ctr" latinLnBrk="1"/>
                      <a:r>
                        <a:rPr lang="en-US" altLang="ko-KR" sz="2000" dirty="0" err="1"/>
                        <a:t>IDictionary</a:t>
                      </a:r>
                      <a:endParaRPr lang="ko-KR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3947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6978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352173"/>
                  </a:ext>
                </a:extLst>
              </a:tr>
            </a:tbl>
          </a:graphicData>
        </a:graphic>
      </p:graphicFrame>
      <p:cxnSp>
        <p:nvCxnSpPr>
          <p:cNvPr id="27" name="직선 화살표 연결선 26"/>
          <p:cNvCxnSpPr>
            <a:stCxn id="26" idx="0"/>
            <a:endCxn id="7" idx="3"/>
          </p:cNvCxnSpPr>
          <p:nvPr/>
        </p:nvCxnSpPr>
        <p:spPr>
          <a:xfrm flipH="1" flipV="1">
            <a:off x="6874445" y="1958806"/>
            <a:ext cx="2554796" cy="69561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64753" y="4411905"/>
            <a:ext cx="2389081" cy="4770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500" dirty="0"/>
              <a:t>List&lt;T&gt;</a:t>
            </a:r>
            <a:endParaRPr lang="ko-KR" altLang="en-US" sz="2500" dirty="0"/>
          </a:p>
        </p:txBody>
      </p:sp>
      <p:cxnSp>
        <p:nvCxnSpPr>
          <p:cNvPr id="37" name="직선 화살표 연결선 36"/>
          <p:cNvCxnSpPr/>
          <p:nvPr/>
        </p:nvCxnSpPr>
        <p:spPr>
          <a:xfrm flipV="1">
            <a:off x="2130641" y="3689361"/>
            <a:ext cx="0" cy="56304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/>
          <p:cNvSpPr/>
          <p:nvPr/>
        </p:nvSpPr>
        <p:spPr>
          <a:xfrm>
            <a:off x="594804" y="4252403"/>
            <a:ext cx="3204839" cy="1978829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2843020" y="4465766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배열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4753" y="5159613"/>
            <a:ext cx="2389081" cy="4770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500" dirty="0" err="1"/>
              <a:t>LinkedList</a:t>
            </a:r>
            <a:r>
              <a:rPr lang="en-US" altLang="ko-KR" sz="2500" dirty="0"/>
              <a:t>&lt;T&gt;</a:t>
            </a:r>
            <a:endParaRPr lang="ko-KR" altLang="en-US" sz="2500" dirty="0"/>
          </a:p>
        </p:txBody>
      </p:sp>
      <p:sp>
        <p:nvSpPr>
          <p:cNvPr id="40" name="직사각형 39"/>
          <p:cNvSpPr/>
          <p:nvPr/>
        </p:nvSpPr>
        <p:spPr>
          <a:xfrm>
            <a:off x="1999150" y="5537989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>
                <a:solidFill>
                  <a:srgbClr val="FF0000"/>
                </a:solidFill>
              </a:rPr>
              <a:t>이중연결리스트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4388231" y="3069632"/>
            <a:ext cx="2926969" cy="1617778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2" name="직선 화살표 연결선 41"/>
          <p:cNvCxnSpPr/>
          <p:nvPr/>
        </p:nvCxnSpPr>
        <p:spPr>
          <a:xfrm flipV="1">
            <a:off x="5679905" y="2426166"/>
            <a:ext cx="0" cy="56304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663412" y="4012072"/>
            <a:ext cx="2389081" cy="4770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500" dirty="0"/>
              <a:t>Queue&lt;T&gt;</a:t>
            </a:r>
            <a:endParaRPr lang="ko-KR" altLang="en-US" sz="2500" dirty="0"/>
          </a:p>
        </p:txBody>
      </p:sp>
      <p:sp>
        <p:nvSpPr>
          <p:cNvPr id="44" name="TextBox 43"/>
          <p:cNvSpPr txBox="1"/>
          <p:nvPr/>
        </p:nvSpPr>
        <p:spPr>
          <a:xfrm>
            <a:off x="4663413" y="3360886"/>
            <a:ext cx="2389081" cy="4770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500" dirty="0"/>
              <a:t>Stack&lt;T&gt;</a:t>
            </a:r>
            <a:endParaRPr lang="ko-KR" altLang="en-US" sz="2500" dirty="0"/>
          </a:p>
        </p:txBody>
      </p:sp>
      <p:sp>
        <p:nvSpPr>
          <p:cNvPr id="45" name="직사각형 44"/>
          <p:cNvSpPr/>
          <p:nvPr/>
        </p:nvSpPr>
        <p:spPr>
          <a:xfrm>
            <a:off x="241099" y="1376039"/>
            <a:ext cx="7349309" cy="5326602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/>
          <p:cNvSpPr txBox="1"/>
          <p:nvPr/>
        </p:nvSpPr>
        <p:spPr>
          <a:xfrm>
            <a:off x="142037" y="1290178"/>
            <a:ext cx="1536825" cy="4770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500" dirty="0"/>
              <a:t>값</a:t>
            </a:r>
          </a:p>
        </p:txBody>
      </p:sp>
      <p:sp>
        <p:nvSpPr>
          <p:cNvPr id="47" name="직사각형 46"/>
          <p:cNvSpPr/>
          <p:nvPr/>
        </p:nvSpPr>
        <p:spPr>
          <a:xfrm>
            <a:off x="8238355" y="4152184"/>
            <a:ext cx="2926969" cy="2408414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8" name="직선 화살표 연결선 47"/>
          <p:cNvCxnSpPr/>
          <p:nvPr/>
        </p:nvCxnSpPr>
        <p:spPr>
          <a:xfrm flipV="1">
            <a:off x="9569804" y="3589141"/>
            <a:ext cx="0" cy="56304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8412111" y="4972701"/>
            <a:ext cx="2579456" cy="4770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500" dirty="0"/>
              <a:t>Dictionary&lt;K,V&gt;</a:t>
            </a:r>
            <a:endParaRPr lang="ko-KR" altLang="en-US" sz="2500" dirty="0"/>
          </a:p>
        </p:txBody>
      </p:sp>
      <p:sp>
        <p:nvSpPr>
          <p:cNvPr id="51" name="직사각형 50"/>
          <p:cNvSpPr/>
          <p:nvPr/>
        </p:nvSpPr>
        <p:spPr>
          <a:xfrm>
            <a:off x="7962452" y="2503503"/>
            <a:ext cx="4013109" cy="4199138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/>
          <p:cNvSpPr txBox="1"/>
          <p:nvPr/>
        </p:nvSpPr>
        <p:spPr>
          <a:xfrm>
            <a:off x="10396911" y="1950990"/>
            <a:ext cx="1536825" cy="4770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500" dirty="0"/>
              <a:t>키</a:t>
            </a:r>
            <a:r>
              <a:rPr lang="en-US" altLang="ko-KR" sz="2500" dirty="0"/>
              <a:t>, </a:t>
            </a:r>
            <a:r>
              <a:rPr lang="ko-KR" altLang="en-US" sz="2500" dirty="0"/>
              <a:t>값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95810" y="5575794"/>
            <a:ext cx="2656398" cy="8617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500" dirty="0" err="1"/>
              <a:t>SortedDictionary</a:t>
            </a:r>
            <a:r>
              <a:rPr lang="en-US" altLang="ko-KR" sz="2500" dirty="0"/>
              <a:t>&lt;K,V&gt;</a:t>
            </a:r>
            <a:endParaRPr lang="ko-KR" altLang="en-US" sz="2500" dirty="0"/>
          </a:p>
        </p:txBody>
      </p:sp>
      <p:sp>
        <p:nvSpPr>
          <p:cNvPr id="54" name="TextBox 53"/>
          <p:cNvSpPr txBox="1"/>
          <p:nvPr/>
        </p:nvSpPr>
        <p:spPr>
          <a:xfrm>
            <a:off x="8395810" y="4369608"/>
            <a:ext cx="2579456" cy="4770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500" dirty="0" err="1"/>
              <a:t>SortedList</a:t>
            </a:r>
            <a:r>
              <a:rPr lang="en-US" altLang="ko-KR" sz="2500" dirty="0"/>
              <a:t>&lt;K,V&gt;</a:t>
            </a:r>
            <a:endParaRPr lang="ko-KR" altLang="en-US" sz="2500" dirty="0"/>
          </a:p>
        </p:txBody>
      </p:sp>
      <p:graphicFrame>
        <p:nvGraphicFramePr>
          <p:cNvPr id="56" name="표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3112575"/>
              </p:ext>
            </p:extLst>
          </p:nvPr>
        </p:nvGraphicFramePr>
        <p:xfrm>
          <a:off x="4054305" y="59209"/>
          <a:ext cx="2389080" cy="934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89080">
                  <a:extLst>
                    <a:ext uri="{9D8B030D-6E8A-4147-A177-3AD203B41FA5}">
                      <a16:colId xmlns:a16="http://schemas.microsoft.com/office/drawing/2014/main" val="3044152518"/>
                    </a:ext>
                  </a:extLst>
                </a:gridCol>
              </a:tblGrid>
              <a:tr h="6839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&lt;&lt;interface&gt;&gt;</a:t>
                      </a:r>
                    </a:p>
                    <a:p>
                      <a:pPr algn="ctr" latinLnBrk="1"/>
                      <a:r>
                        <a:rPr lang="en-US" altLang="ko-KR" sz="2000" dirty="0" err="1"/>
                        <a:t>IEnumerable</a:t>
                      </a:r>
                      <a:endParaRPr lang="ko-KR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3947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6978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352173"/>
                  </a:ext>
                </a:extLst>
              </a:tr>
            </a:tbl>
          </a:graphicData>
        </a:graphic>
      </p:graphicFrame>
      <p:graphicFrame>
        <p:nvGraphicFramePr>
          <p:cNvPr id="57" name="표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7964203"/>
              </p:ext>
            </p:extLst>
          </p:nvPr>
        </p:nvGraphicFramePr>
        <p:xfrm>
          <a:off x="7201270" y="31061"/>
          <a:ext cx="2389080" cy="934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89080">
                  <a:extLst>
                    <a:ext uri="{9D8B030D-6E8A-4147-A177-3AD203B41FA5}">
                      <a16:colId xmlns:a16="http://schemas.microsoft.com/office/drawing/2014/main" val="3044152518"/>
                    </a:ext>
                  </a:extLst>
                </a:gridCol>
              </a:tblGrid>
              <a:tr h="4438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&lt;&lt;interface&gt;&gt;</a:t>
                      </a:r>
                    </a:p>
                    <a:p>
                      <a:pPr algn="ctr" latinLnBrk="1"/>
                      <a:r>
                        <a:rPr lang="en-US" altLang="ko-KR" sz="2000" dirty="0" err="1"/>
                        <a:t>IEnumberator</a:t>
                      </a:r>
                      <a:endParaRPr lang="ko-KR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3947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6978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352173"/>
                  </a:ext>
                </a:extLst>
              </a:tr>
            </a:tbl>
          </a:graphicData>
        </a:graphic>
      </p:graphicFrame>
      <p:cxnSp>
        <p:nvCxnSpPr>
          <p:cNvPr id="58" name="직선 화살표 연결선 57"/>
          <p:cNvCxnSpPr>
            <a:stCxn id="7" idx="0"/>
          </p:cNvCxnSpPr>
          <p:nvPr/>
        </p:nvCxnSpPr>
        <p:spPr>
          <a:xfrm flipV="1">
            <a:off x="5679905" y="993929"/>
            <a:ext cx="0" cy="49751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/>
          <p:cNvCxnSpPr>
            <a:stCxn id="56" idx="3"/>
            <a:endCxn id="57" idx="1"/>
          </p:cNvCxnSpPr>
          <p:nvPr/>
        </p:nvCxnSpPr>
        <p:spPr>
          <a:xfrm flipV="1">
            <a:off x="6443385" y="498421"/>
            <a:ext cx="757885" cy="28148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9584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/>
          <p:cNvSpPr/>
          <p:nvPr/>
        </p:nvSpPr>
        <p:spPr>
          <a:xfrm>
            <a:off x="606641" y="415900"/>
            <a:ext cx="10108707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2200" dirty="0">
                <a:solidFill>
                  <a:schemeClr val="tx1"/>
                </a:solidFill>
              </a:rPr>
              <a:t>어제 만든 코드에서 </a:t>
            </a:r>
            <a:r>
              <a:rPr lang="en-US" altLang="ko-KR" sz="2200" dirty="0" err="1">
                <a:solidFill>
                  <a:schemeClr val="tx1"/>
                </a:solidFill>
              </a:rPr>
              <a:t>MyArr</a:t>
            </a:r>
            <a:r>
              <a:rPr lang="ko-KR" altLang="en-US" sz="2200" dirty="0">
                <a:solidFill>
                  <a:schemeClr val="tx1"/>
                </a:solidFill>
              </a:rPr>
              <a:t>를 제거하고 </a:t>
            </a:r>
            <a:r>
              <a:rPr lang="en-US" altLang="ko-KR" sz="2200" dirty="0">
                <a:solidFill>
                  <a:schemeClr val="tx1"/>
                </a:solidFill>
              </a:rPr>
              <a:t>List&lt;Member&gt;</a:t>
            </a:r>
            <a:r>
              <a:rPr lang="ko-KR" altLang="en-US" sz="2200" dirty="0">
                <a:solidFill>
                  <a:schemeClr val="tx1"/>
                </a:solidFill>
              </a:rPr>
              <a:t>로</a:t>
            </a:r>
            <a:r>
              <a:rPr lang="en-US" altLang="ko-KR" sz="2200" dirty="0">
                <a:solidFill>
                  <a:schemeClr val="tx1"/>
                </a:solidFill>
              </a:rPr>
              <a:t> </a:t>
            </a:r>
            <a:r>
              <a:rPr lang="ko-KR" altLang="en-US" sz="2200" dirty="0">
                <a:solidFill>
                  <a:schemeClr val="tx1"/>
                </a:solidFill>
              </a:rPr>
              <a:t>데이터를 관리</a:t>
            </a:r>
            <a:endParaRPr lang="en-US" altLang="ko-KR" sz="22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altLang="ko-KR" sz="2200" dirty="0"/>
          </a:p>
          <a:p>
            <a:r>
              <a:rPr lang="en-US" altLang="ko-KR" sz="2200" dirty="0"/>
              <a:t>2. </a:t>
            </a:r>
            <a:r>
              <a:rPr lang="ko-KR" altLang="en-US" sz="2200" dirty="0"/>
              <a:t>교재</a:t>
            </a:r>
            <a:r>
              <a:rPr lang="en-US" altLang="ko-KR" sz="2200" dirty="0"/>
              <a:t> p111-116 </a:t>
            </a:r>
            <a:r>
              <a:rPr lang="ko-KR" altLang="en-US" sz="2200" dirty="0"/>
              <a:t>를 분석하여 정렬 기능을 메뉴에 추가하여 구현할 것</a:t>
            </a:r>
            <a:endParaRPr lang="en-US" altLang="ko-KR" sz="2200" dirty="0"/>
          </a:p>
          <a:p>
            <a:r>
              <a:rPr lang="en-US" altLang="ko-KR" sz="2200" dirty="0"/>
              <a:t>-------------------------------------------------------------------------------------------</a:t>
            </a:r>
          </a:p>
          <a:p>
            <a:endParaRPr lang="en-US" altLang="ko-KR" sz="2200" dirty="0"/>
          </a:p>
          <a:p>
            <a:r>
              <a:rPr lang="en-US" altLang="ko-KR" sz="2200" dirty="0"/>
              <a:t>3. </a:t>
            </a:r>
            <a:r>
              <a:rPr lang="ko-KR" altLang="en-US" sz="2200" dirty="0"/>
              <a:t>번에서 만든 코드에 </a:t>
            </a:r>
            <a:r>
              <a:rPr lang="en-US" altLang="ko-KR" sz="2200" dirty="0" err="1"/>
              <a:t>ContriAccount</a:t>
            </a:r>
            <a:r>
              <a:rPr lang="en-US" altLang="ko-KR" sz="2200" dirty="0"/>
              <a:t>, </a:t>
            </a:r>
            <a:r>
              <a:rPr lang="en-US" altLang="ko-KR" sz="2200" dirty="0" err="1"/>
              <a:t>FaithAccount</a:t>
            </a:r>
            <a:r>
              <a:rPr lang="ko-KR" altLang="en-US" sz="2200" dirty="0"/>
              <a:t>를 추가하여 상속 구조로 구성하여 코드 변경</a:t>
            </a:r>
            <a:endParaRPr lang="en-US" altLang="ko-KR" sz="2200" dirty="0"/>
          </a:p>
          <a:p>
            <a:r>
              <a:rPr lang="en-US" altLang="ko-KR" sz="2200" dirty="0">
                <a:solidFill>
                  <a:schemeClr val="tx1"/>
                </a:solidFill>
              </a:rPr>
              <a:t>    LMS</a:t>
            </a:r>
            <a:r>
              <a:rPr lang="ko-KR" altLang="en-US" sz="2200" dirty="0">
                <a:solidFill>
                  <a:schemeClr val="tx1"/>
                </a:solidFill>
              </a:rPr>
              <a:t>에 넣어 둔 </a:t>
            </a:r>
            <a:r>
              <a:rPr lang="en-US" altLang="ko-KR" sz="2200" dirty="0">
                <a:solidFill>
                  <a:schemeClr val="tx1"/>
                </a:solidFill>
              </a:rPr>
              <a:t>CPP</a:t>
            </a:r>
            <a:r>
              <a:rPr lang="ko-KR" altLang="en-US" sz="2200" dirty="0">
                <a:solidFill>
                  <a:schemeClr val="tx1"/>
                </a:solidFill>
              </a:rPr>
              <a:t>코드를 참조할 것</a:t>
            </a:r>
            <a:endParaRPr lang="en-US" altLang="ko-KR" sz="2200" dirty="0">
              <a:solidFill>
                <a:schemeClr val="tx1"/>
              </a:solidFill>
            </a:endParaRPr>
          </a:p>
          <a:p>
            <a:r>
              <a:rPr lang="en-US" altLang="ko-KR" sz="2200" dirty="0"/>
              <a:t>     * </a:t>
            </a:r>
            <a:r>
              <a:rPr lang="ko-KR" altLang="en-US" sz="2200" dirty="0"/>
              <a:t>파일 </a:t>
            </a:r>
            <a:r>
              <a:rPr lang="en-US" altLang="ko-KR" sz="2200" dirty="0"/>
              <a:t>IO </a:t>
            </a:r>
            <a:r>
              <a:rPr lang="ko-KR" altLang="en-US" sz="2200" dirty="0"/>
              <a:t>마지막</a:t>
            </a:r>
            <a:r>
              <a:rPr lang="en-US" altLang="ko-KR" sz="2200" dirty="0"/>
              <a:t>…(</a:t>
            </a:r>
            <a:r>
              <a:rPr lang="ko-KR" altLang="en-US" sz="2200" dirty="0"/>
              <a:t>계좌 종류별로 별도로 저장</a:t>
            </a:r>
            <a:r>
              <a:rPr lang="en-US" altLang="ko-KR" sz="2200" dirty="0"/>
              <a:t>)</a:t>
            </a:r>
          </a:p>
          <a:p>
            <a:endParaRPr lang="en-US" altLang="ko-KR" sz="2200" dirty="0">
              <a:solidFill>
                <a:schemeClr val="tx1"/>
              </a:solidFill>
            </a:endParaRPr>
          </a:p>
          <a:p>
            <a:endParaRPr lang="en-US" altLang="ko-KR" sz="2200" dirty="0"/>
          </a:p>
          <a:p>
            <a:r>
              <a:rPr lang="en-US" altLang="ko-KR" sz="2200" dirty="0">
                <a:solidFill>
                  <a:schemeClr val="tx1"/>
                </a:solidFill>
              </a:rPr>
              <a:t>1</a:t>
            </a:r>
            <a:r>
              <a:rPr lang="ko-KR" altLang="en-US" sz="2200" dirty="0">
                <a:solidFill>
                  <a:schemeClr val="tx1"/>
                </a:solidFill>
              </a:rPr>
              <a:t>시 </a:t>
            </a:r>
            <a:r>
              <a:rPr lang="en-US" altLang="ko-KR" sz="2200" dirty="0">
                <a:solidFill>
                  <a:schemeClr val="tx1"/>
                </a:solidFill>
              </a:rPr>
              <a:t>~ 3</a:t>
            </a:r>
            <a:r>
              <a:rPr lang="ko-KR" altLang="en-US" sz="2200" dirty="0">
                <a:solidFill>
                  <a:schemeClr val="tx1"/>
                </a:solidFill>
              </a:rPr>
              <a:t>시 </a:t>
            </a:r>
            <a:r>
              <a:rPr lang="en-US" altLang="ko-KR" sz="2200" dirty="0">
                <a:solidFill>
                  <a:schemeClr val="tx1"/>
                </a:solidFill>
              </a:rPr>
              <a:t>: </a:t>
            </a:r>
            <a:r>
              <a:rPr lang="ko-KR" altLang="en-US" sz="2200" dirty="0">
                <a:solidFill>
                  <a:schemeClr val="tx1"/>
                </a:solidFill>
              </a:rPr>
              <a:t>시험</a:t>
            </a:r>
            <a:r>
              <a:rPr lang="en-US" altLang="ko-KR" sz="2200" dirty="0">
                <a:solidFill>
                  <a:schemeClr val="tx1"/>
                </a:solidFill>
              </a:rPr>
              <a:t>(</a:t>
            </a:r>
            <a:r>
              <a:rPr lang="ko-KR" altLang="en-US" sz="2200" dirty="0">
                <a:solidFill>
                  <a:schemeClr val="tx1"/>
                </a:solidFill>
              </a:rPr>
              <a:t>필기</a:t>
            </a:r>
            <a:r>
              <a:rPr lang="en-US" altLang="ko-KR" sz="2200" dirty="0">
                <a:solidFill>
                  <a:schemeClr val="tx1"/>
                </a:solidFill>
              </a:rPr>
              <a:t>, </a:t>
            </a:r>
            <a:r>
              <a:rPr lang="ko-KR" altLang="en-US" sz="2200" dirty="0"/>
              <a:t>실기</a:t>
            </a:r>
            <a:r>
              <a:rPr lang="en-US" altLang="ko-KR" sz="2200" dirty="0"/>
              <a:t>)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ko-KR" altLang="en-US" sz="2200" dirty="0">
                <a:solidFill>
                  <a:schemeClr val="tx1"/>
                </a:solidFill>
              </a:rPr>
              <a:t>실기 구현 </a:t>
            </a:r>
            <a:r>
              <a:rPr lang="en-US" altLang="ko-KR" sz="2200" dirty="0">
                <a:solidFill>
                  <a:schemeClr val="tx1"/>
                </a:solidFill>
              </a:rPr>
              <a:t>X</a:t>
            </a:r>
          </a:p>
          <a:p>
            <a:endParaRPr lang="en-US" altLang="ko-KR" sz="2200" dirty="0"/>
          </a:p>
          <a:p>
            <a:r>
              <a:rPr lang="ko-KR" altLang="en-US" sz="2200" dirty="0">
                <a:solidFill>
                  <a:schemeClr val="tx1"/>
                </a:solidFill>
              </a:rPr>
              <a:t>전체 남아서 완성 퇴실</a:t>
            </a:r>
            <a:r>
              <a:rPr lang="en-US" altLang="ko-KR" sz="2200" dirty="0">
                <a:solidFill>
                  <a:schemeClr val="tx1"/>
                </a:solidFill>
              </a:rPr>
              <a:t>(</a:t>
            </a:r>
            <a:r>
              <a:rPr lang="ko-KR" altLang="en-US" sz="2200" dirty="0">
                <a:solidFill>
                  <a:schemeClr val="tx1"/>
                </a:solidFill>
              </a:rPr>
              <a:t>조 책임</a:t>
            </a:r>
            <a:r>
              <a:rPr lang="en-US" altLang="ko-KR" sz="2200" dirty="0">
                <a:solidFill>
                  <a:schemeClr val="tx1"/>
                </a:solidFill>
              </a:rPr>
              <a:t>)</a:t>
            </a:r>
          </a:p>
          <a:p>
            <a:endParaRPr lang="en-US" altLang="ko-KR" sz="2200" dirty="0">
              <a:solidFill>
                <a:schemeClr val="tx1"/>
              </a:solidFill>
            </a:endParaRPr>
          </a:p>
          <a:p>
            <a:endParaRPr lang="ko-KR" altLang="en-US" sz="2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44277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841507" y="2769833"/>
            <a:ext cx="1313180" cy="70788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4000" dirty="0"/>
              <a:t>0407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41273730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860727"/>
              </p:ext>
            </p:extLst>
          </p:nvPr>
        </p:nvGraphicFramePr>
        <p:xfrm>
          <a:off x="484247" y="408947"/>
          <a:ext cx="2389080" cy="11160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89080">
                  <a:extLst>
                    <a:ext uri="{9D8B030D-6E8A-4147-A177-3AD203B41FA5}">
                      <a16:colId xmlns:a16="http://schemas.microsoft.com/office/drawing/2014/main" val="3044152518"/>
                    </a:ext>
                  </a:extLst>
                </a:gridCol>
              </a:tblGrid>
              <a:tr h="3922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&lt;&lt;</a:t>
                      </a:r>
                      <a:r>
                        <a:rPr lang="en-US" altLang="ko-KR" sz="200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STT</a:t>
                      </a:r>
                      <a:r>
                        <a:rPr lang="en-US" altLang="ko-KR" sz="2000" dirty="0"/>
                        <a:t>&gt;&gt;</a:t>
                      </a:r>
                    </a:p>
                    <a:p>
                      <a:pPr algn="ctr" latinLnBrk="1"/>
                      <a:r>
                        <a:rPr lang="en-US" altLang="ko-KR" sz="2000" dirty="0" err="1"/>
                        <a:t>stt</a:t>
                      </a:r>
                      <a:endParaRPr lang="ko-KR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3947890"/>
                  </a:ext>
                </a:extLst>
              </a:tr>
              <a:tr h="207509"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6978065"/>
                  </a:ext>
                </a:extLst>
              </a:tr>
              <a:tr h="207509"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352173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163762"/>
              </p:ext>
            </p:extLst>
          </p:nvPr>
        </p:nvGraphicFramePr>
        <p:xfrm>
          <a:off x="9021224" y="481603"/>
          <a:ext cx="2389080" cy="10741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89080">
                  <a:extLst>
                    <a:ext uri="{9D8B030D-6E8A-4147-A177-3AD203B41FA5}">
                      <a16:colId xmlns:a16="http://schemas.microsoft.com/office/drawing/2014/main" val="3044152518"/>
                    </a:ext>
                  </a:extLst>
                </a:gridCol>
              </a:tblGrid>
              <a:tr h="3526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&lt;&lt;</a:t>
                      </a:r>
                      <a:r>
                        <a:rPr lang="ko-KR" altLang="en-US" sz="2000" dirty="0"/>
                        <a:t>데이터</a:t>
                      </a:r>
                      <a:r>
                        <a:rPr lang="en-US" altLang="ko-KR" sz="2000" dirty="0"/>
                        <a:t>&gt;&gt;</a:t>
                      </a:r>
                    </a:p>
                    <a:p>
                      <a:pPr algn="ctr" latinLnBrk="1"/>
                      <a:r>
                        <a:rPr lang="en-US" altLang="ko-KR" sz="2000" dirty="0"/>
                        <a:t>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3947890"/>
                  </a:ext>
                </a:extLst>
              </a:tr>
              <a:tr h="186551"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6978065"/>
                  </a:ext>
                </a:extLst>
              </a:tr>
              <a:tr h="186551"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352173"/>
                  </a:ext>
                </a:extLst>
              </a:tr>
            </a:tbl>
          </a:graphicData>
        </a:graphic>
      </p:graphicFrame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0353228"/>
              </p:ext>
            </p:extLst>
          </p:nvPr>
        </p:nvGraphicFramePr>
        <p:xfrm>
          <a:off x="4849349" y="401406"/>
          <a:ext cx="2389080" cy="14487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89080">
                  <a:extLst>
                    <a:ext uri="{9D8B030D-6E8A-4147-A177-3AD203B41FA5}">
                      <a16:colId xmlns:a16="http://schemas.microsoft.com/office/drawing/2014/main" val="3044152518"/>
                    </a:ext>
                  </a:extLst>
                </a:gridCol>
              </a:tblGrid>
              <a:tr h="7409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&lt;&lt;</a:t>
                      </a:r>
                      <a:r>
                        <a:rPr lang="en-US" altLang="ko-KR" sz="1400" dirty="0" err="1"/>
                        <a:t>ui</a:t>
                      </a:r>
                      <a:r>
                        <a:rPr lang="ko-KR" altLang="en-US" sz="1400" dirty="0"/>
                        <a:t>한테 받은 정보를 처리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정제</a:t>
                      </a:r>
                      <a:r>
                        <a:rPr lang="en-US" altLang="ko-KR" sz="1400" dirty="0"/>
                        <a:t>)&gt;&gt;</a:t>
                      </a:r>
                    </a:p>
                    <a:p>
                      <a:pPr algn="ctr" latinLnBrk="1"/>
                      <a:r>
                        <a:rPr lang="en-US" altLang="ko-KR" sz="2000" dirty="0"/>
                        <a:t>Control (singleton)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3947890"/>
                  </a:ext>
                </a:extLst>
              </a:tr>
              <a:tr h="22781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Fun1() </a:t>
                      </a:r>
                      <a:r>
                        <a:rPr lang="ko-KR" altLang="en-US" sz="1600" dirty="0"/>
                        <a:t>비동기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6978065"/>
                  </a:ext>
                </a:extLst>
              </a:tr>
              <a:tr h="290464"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352173"/>
                  </a:ext>
                </a:extLst>
              </a:tr>
            </a:tbl>
          </a:graphicData>
        </a:graphic>
      </p:graphicFrame>
      <p:sp>
        <p:nvSpPr>
          <p:cNvPr id="11" name="직사각형 10"/>
          <p:cNvSpPr/>
          <p:nvPr/>
        </p:nvSpPr>
        <p:spPr>
          <a:xfrm>
            <a:off x="238896" y="262319"/>
            <a:ext cx="2794228" cy="2949758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12" name="직사각형 11"/>
          <p:cNvSpPr/>
          <p:nvPr/>
        </p:nvSpPr>
        <p:spPr>
          <a:xfrm>
            <a:off x="8818650" y="392148"/>
            <a:ext cx="2794228" cy="1457962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8269806"/>
              </p:ext>
            </p:extLst>
          </p:nvPr>
        </p:nvGraphicFramePr>
        <p:xfrm>
          <a:off x="3850355" y="5629974"/>
          <a:ext cx="2389080" cy="11581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89080">
                  <a:extLst>
                    <a:ext uri="{9D8B030D-6E8A-4147-A177-3AD203B41FA5}">
                      <a16:colId xmlns:a16="http://schemas.microsoft.com/office/drawing/2014/main" val="3044152518"/>
                    </a:ext>
                  </a:extLst>
                </a:gridCol>
              </a:tblGrid>
              <a:tr h="7007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&lt;&lt;</a:t>
                      </a:r>
                      <a:r>
                        <a:rPr lang="ko-KR" altLang="en-US" sz="2000" dirty="0"/>
                        <a:t>시작점</a:t>
                      </a:r>
                      <a:r>
                        <a:rPr lang="en-US" altLang="ko-KR" sz="2000" dirty="0"/>
                        <a:t>&gt;&gt;</a:t>
                      </a:r>
                    </a:p>
                    <a:p>
                      <a:pPr algn="ctr" latinLnBrk="1"/>
                      <a:r>
                        <a:rPr lang="en-US" altLang="ko-KR" sz="2000" dirty="0"/>
                        <a:t>main</a:t>
                      </a:r>
                      <a:endParaRPr lang="ko-KR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3947890"/>
                  </a:ext>
                </a:extLst>
              </a:tr>
              <a:tr h="228571"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6978065"/>
                  </a:ext>
                </a:extLst>
              </a:tr>
              <a:tr h="228571"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352173"/>
                  </a:ext>
                </a:extLst>
              </a:tr>
            </a:tbl>
          </a:graphicData>
        </a:graphic>
      </p:graphicFrame>
      <p:cxnSp>
        <p:nvCxnSpPr>
          <p:cNvPr id="15" name="직선 화살표 연결선 14"/>
          <p:cNvCxnSpPr/>
          <p:nvPr/>
        </p:nvCxnSpPr>
        <p:spPr>
          <a:xfrm flipV="1">
            <a:off x="124393" y="6595680"/>
            <a:ext cx="1041731" cy="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/>
          <p:nvPr/>
        </p:nvCxnSpPr>
        <p:spPr>
          <a:xfrm flipH="1" flipV="1">
            <a:off x="5122328" y="4967886"/>
            <a:ext cx="9455" cy="62232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/>
          <p:nvPr/>
        </p:nvCxnSpPr>
        <p:spPr>
          <a:xfrm>
            <a:off x="7220998" y="956383"/>
            <a:ext cx="1597652" cy="171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/>
          <p:nvPr/>
        </p:nvCxnSpPr>
        <p:spPr>
          <a:xfrm flipH="1">
            <a:off x="3094483" y="958099"/>
            <a:ext cx="1719354" cy="8877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/>
          <p:cNvSpPr/>
          <p:nvPr/>
        </p:nvSpPr>
        <p:spPr>
          <a:xfrm>
            <a:off x="11706358" y="6076616"/>
            <a:ext cx="408372" cy="39462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/>
              <a:t>4</a:t>
            </a:r>
            <a:endParaRPr lang="ko-KR" altLang="en-US" sz="2000" dirty="0"/>
          </a:p>
        </p:txBody>
      </p:sp>
      <p:graphicFrame>
        <p:nvGraphicFramePr>
          <p:cNvPr id="25" name="표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8234328"/>
              </p:ext>
            </p:extLst>
          </p:nvPr>
        </p:nvGraphicFramePr>
        <p:xfrm>
          <a:off x="3927788" y="3549398"/>
          <a:ext cx="2389080" cy="10675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89080">
                  <a:extLst>
                    <a:ext uri="{9D8B030D-6E8A-4147-A177-3AD203B41FA5}">
                      <a16:colId xmlns:a16="http://schemas.microsoft.com/office/drawing/2014/main" val="3044152518"/>
                    </a:ext>
                  </a:extLst>
                </a:gridCol>
              </a:tblGrid>
              <a:tr h="4216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&lt;&lt;</a:t>
                      </a:r>
                      <a:r>
                        <a:rPr lang="en-US" altLang="ko-KR" sz="1600" dirty="0" err="1"/>
                        <a:t>ui</a:t>
                      </a:r>
                      <a:r>
                        <a:rPr lang="en-US" altLang="ko-KR" sz="1600" dirty="0"/>
                        <a:t>,</a:t>
                      </a:r>
                      <a:r>
                        <a:rPr lang="ko-KR" altLang="en-US" sz="1600" dirty="0"/>
                        <a:t>데이터 입출력</a:t>
                      </a:r>
                      <a:r>
                        <a:rPr lang="en-US" altLang="ko-KR" sz="1600" dirty="0"/>
                        <a:t>&gt;&gt;</a:t>
                      </a:r>
                    </a:p>
                    <a:p>
                      <a:pPr algn="ctr" latinLnBrk="1"/>
                      <a:r>
                        <a:rPr lang="en-US" altLang="ko-KR" sz="2000" dirty="0" err="1"/>
                        <a:t>ui</a:t>
                      </a:r>
                      <a:endParaRPr lang="en-US" altLang="ko-KR" sz="2000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947890"/>
                  </a:ext>
                </a:extLst>
              </a:tr>
              <a:tr h="213742"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978065"/>
                  </a:ext>
                </a:extLst>
              </a:tr>
              <a:tr h="213742"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352173"/>
                  </a:ext>
                </a:extLst>
              </a:tr>
            </a:tbl>
          </a:graphicData>
        </a:graphic>
      </p:graphicFrame>
      <p:sp>
        <p:nvSpPr>
          <p:cNvPr id="30" name="직사각형 29"/>
          <p:cNvSpPr/>
          <p:nvPr/>
        </p:nvSpPr>
        <p:spPr>
          <a:xfrm>
            <a:off x="3662103" y="3349179"/>
            <a:ext cx="2920450" cy="1443245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cxnSp>
        <p:nvCxnSpPr>
          <p:cNvPr id="37" name="직선 화살표 연결선 36"/>
          <p:cNvCxnSpPr>
            <a:cxnSpLocks/>
            <a:stCxn id="30" idx="0"/>
          </p:cNvCxnSpPr>
          <p:nvPr/>
        </p:nvCxnSpPr>
        <p:spPr>
          <a:xfrm flipV="1">
            <a:off x="5122328" y="1600173"/>
            <a:ext cx="9455" cy="174900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표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0296302"/>
              </p:ext>
            </p:extLst>
          </p:nvPr>
        </p:nvGraphicFramePr>
        <p:xfrm>
          <a:off x="9223798" y="5759956"/>
          <a:ext cx="2389080" cy="10980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89080">
                  <a:extLst>
                    <a:ext uri="{9D8B030D-6E8A-4147-A177-3AD203B41FA5}">
                      <a16:colId xmlns:a16="http://schemas.microsoft.com/office/drawing/2014/main" val="3044152518"/>
                    </a:ext>
                  </a:extLst>
                </a:gridCol>
              </a:tblGrid>
              <a:tr h="6626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&lt;&lt;</a:t>
                      </a:r>
                      <a:r>
                        <a:rPr lang="ko-KR" altLang="en-US" sz="1800" dirty="0" err="1"/>
                        <a:t>싱글톤</a:t>
                      </a:r>
                      <a:r>
                        <a:rPr lang="en-US" altLang="ko-KR" sz="1800" dirty="0"/>
                        <a:t>, </a:t>
                      </a:r>
                      <a:r>
                        <a:rPr lang="ko-KR" altLang="en-US" sz="1800" dirty="0"/>
                        <a:t>구독자</a:t>
                      </a:r>
                      <a:r>
                        <a:rPr lang="en-US" altLang="ko-KR" sz="1800" dirty="0"/>
                        <a:t>&gt;&gt;</a:t>
                      </a:r>
                      <a:endParaRPr lang="en-US" altLang="ko-KR" sz="2000" dirty="0"/>
                    </a:p>
                    <a:p>
                      <a:pPr algn="ctr" latinLnBrk="1"/>
                      <a:r>
                        <a:rPr lang="en-US" altLang="ko-KR" sz="2000" dirty="0" err="1"/>
                        <a:t>LogManager</a:t>
                      </a:r>
                      <a:endParaRPr lang="en-US" altLang="ko-KR" sz="1800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947890"/>
                  </a:ext>
                </a:extLst>
              </a:tr>
              <a:tr h="213742"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978065"/>
                  </a:ext>
                </a:extLst>
              </a:tr>
              <a:tr h="213742"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352173"/>
                  </a:ext>
                </a:extLst>
              </a:tr>
            </a:tbl>
          </a:graphicData>
        </a:graphic>
      </p:graphicFrame>
      <p:cxnSp>
        <p:nvCxnSpPr>
          <p:cNvPr id="38" name="직선 화살표 연결선 37"/>
          <p:cNvCxnSpPr>
            <a:cxnSpLocks/>
          </p:cNvCxnSpPr>
          <p:nvPr/>
        </p:nvCxnSpPr>
        <p:spPr>
          <a:xfrm>
            <a:off x="10707770" y="4550809"/>
            <a:ext cx="1580221" cy="216705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521899E-DB45-4FC8-BF5B-155DC3E89211}"/>
              </a:ext>
            </a:extLst>
          </p:cNvPr>
          <p:cNvSpPr/>
          <p:nvPr/>
        </p:nvSpPr>
        <p:spPr>
          <a:xfrm>
            <a:off x="4633263" y="262318"/>
            <a:ext cx="2794228" cy="1961280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3E3BC63F-1987-4F8F-93D9-CF7F25687E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2398996"/>
              </p:ext>
            </p:extLst>
          </p:nvPr>
        </p:nvGraphicFramePr>
        <p:xfrm>
          <a:off x="484247" y="1862455"/>
          <a:ext cx="2389080" cy="11160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89080">
                  <a:extLst>
                    <a:ext uri="{9D8B030D-6E8A-4147-A177-3AD203B41FA5}">
                      <a16:colId xmlns:a16="http://schemas.microsoft.com/office/drawing/2014/main" val="3044152518"/>
                    </a:ext>
                  </a:extLst>
                </a:gridCol>
              </a:tblGrid>
              <a:tr h="3922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&lt;&lt;</a:t>
                      </a:r>
                      <a:r>
                        <a:rPr lang="en-US" altLang="ko-KR" sz="200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API</a:t>
                      </a:r>
                      <a:r>
                        <a:rPr lang="en-US" altLang="ko-KR" sz="2000" dirty="0"/>
                        <a:t>&gt;&gt;</a:t>
                      </a:r>
                    </a:p>
                    <a:p>
                      <a:pPr algn="ctr" latinLnBrk="1"/>
                      <a:r>
                        <a:rPr lang="en-US" altLang="ko-KR" sz="2000" dirty="0" err="1"/>
                        <a:t>DeepL</a:t>
                      </a:r>
                      <a:endParaRPr lang="ko-KR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3947890"/>
                  </a:ext>
                </a:extLst>
              </a:tr>
              <a:tr h="207509"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6978065"/>
                  </a:ext>
                </a:extLst>
              </a:tr>
              <a:tr h="207509"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352173"/>
                  </a:ext>
                </a:extLst>
              </a:tr>
            </a:tbl>
          </a:graphicData>
        </a:graphic>
      </p:graphicFrame>
      <p:sp>
        <p:nvSpPr>
          <p:cNvPr id="17" name="타원 16">
            <a:extLst>
              <a:ext uri="{FF2B5EF4-FFF2-40B4-BE49-F238E27FC236}">
                <a16:creationId xmlns:a16="http://schemas.microsoft.com/office/drawing/2014/main" id="{991F352A-E453-46B3-B773-0B1B4ED3CFAB}"/>
              </a:ext>
            </a:extLst>
          </p:cNvPr>
          <p:cNvSpPr/>
          <p:nvPr/>
        </p:nvSpPr>
        <p:spPr>
          <a:xfrm>
            <a:off x="6096000" y="2975691"/>
            <a:ext cx="1260459" cy="44362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Ui</a:t>
            </a:r>
            <a:r>
              <a:rPr lang="ko-KR" altLang="en-US" dirty="0"/>
              <a:t>파일</a:t>
            </a:r>
          </a:p>
        </p:txBody>
      </p:sp>
    </p:spTree>
    <p:extLst>
      <p:ext uri="{BB962C8B-B14F-4D97-AF65-F5344CB8AC3E}">
        <p14:creationId xmlns:p14="http://schemas.microsoft.com/office/powerpoint/2010/main" val="3618509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2947</TotalTime>
  <Words>485</Words>
  <Application>Microsoft Office PowerPoint</Application>
  <PresentationFormat>와이드스크린</PresentationFormat>
  <Paragraphs>171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맑은 고딕</vt:lpstr>
      <vt:lpstr>Arial</vt:lpstr>
      <vt:lpstr>Symbol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bit1</cp:lastModifiedBy>
  <cp:revision>28</cp:revision>
  <dcterms:created xsi:type="dcterms:W3CDTF">2025-04-01T00:04:36Z</dcterms:created>
  <dcterms:modified xsi:type="dcterms:W3CDTF">2025-05-24T08:23:54Z</dcterms:modified>
</cp:coreProperties>
</file>